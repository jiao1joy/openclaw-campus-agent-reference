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84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zh-CN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这份汇报回答一个问题：OpenClaw 是否已经从一次性的本地实验，走到了可复核、可复制的工程验证阶段。我们会沿着部署底座、能力验证、业务样例和多智能体协作四条线展开，最后落到下一阶段的工程边界。</a:t>
            </a:r>
            <a:endParaRPr lang="zh-CN" dirty="0"/>
          </a:p>
          <a:p>
            <a:r>
              <a:rPr lang="zh-CN" dirty="0"/>
              <a:t>右侧拓扑把关键关系先讲清楚：服务侧负责稳定运行，设备侧负责连接现实，Gateway 负责统一入口，模型、Skills 与协作任务都在这个边界内被调用和观察。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先给结论：三类验证链路已经取得阶段性结果。部署底座在混合环境中可复制，Skill 与 Tool 已经从目录可见走到实际可调用，多智能体协作则可以返回带状态、输出和运行标识的结构化结果。</a:t>
            </a:r>
            <a:endParaRPr lang="zh-CN" dirty="0"/>
          </a:p>
          <a:p>
            <a:r>
              <a:rPr lang="zh-CN" dirty="0"/>
              <a:t>这意味着当前工作的重点已经不再是证明“能不能跑”，而是把权限、证据复核、时延控制和真实业务接入做成工程约束。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部署采用服务侧与设备侧分工的方式。Linux Server 通过 Docker 或 WSL2 承担模型、Gateway 与 Skill 注册，Windows PC 保留浏览器、USB 和串口等现场接入能力。</a:t>
            </a:r>
            <a:endParaRPr lang="zh-CN" dirty="0"/>
          </a:p>
          <a:p>
            <a:r>
              <a:rPr lang="zh-CN" dirty="0"/>
              <a:t>两侧最终通过一个受控的 Gateway 入口连接起来。这样的分工降低了现场设备对服务稳定性的影响，也让连接边界、状态和访问方式可以被单独检查。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这页展示验证路径，而不是单纯展示一个界面。先启动环境，再确认服务健康，然后检查模型可用，最后确认 Gateway 可以被访问。</a:t>
            </a:r>
            <a:endParaRPr lang="zh-CN" dirty="0"/>
          </a:p>
          <a:p>
            <a:r>
              <a:rPr lang="zh-CN" dirty="0"/>
              <a:t>截图中的 Gateway 状态是这条链路的可视化证据，但真正的工程含义是：每一步都能支撑下一步动作，失败时也知道应该回到哪个环节排查。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当前实例中可以看到八十六个已安装 Skills，其中四十五个处于 Ready，四十一个处于 Disabled。这里需要区分两个层次：目录页证明能力被识别和登记，实际调用结果才证明能力可以执行。</a:t>
            </a:r>
            <a:endParaRPr lang="zh-CN" dirty="0"/>
          </a:p>
          <a:p>
            <a:r>
              <a:rPr lang="zh-CN" dirty="0"/>
              <a:t>因此，Skill 验证不能停留在“列表里有它”，而应继续验证输入、执行、输出和异常回传是否完整。校园事务助手就是在这个能力底座上完成的一个业务样例。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校园请假场景展示了对话式业务如何变成结构化动作。第一步是补全，助手识别到请假类型和日期之外还缺少具体时间与原因，因此继续追问。</a:t>
            </a:r>
            <a:endParaRPr lang="zh-CN" dirty="0"/>
          </a:p>
          <a:p>
            <a:r>
              <a:rPr lang="zh-CN" dirty="0"/>
              <a:t>第二步是确认，助手把收集到的信息重新摘要给用户，等待明确授权；第三步是提交，动作完成后返回申请编号、状态和时间。这个样例证明对话可以承载信息收集和动作确认，但它仍然是验证样例，不等同于生产业务已完成接入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测试态关注的是一次调用能否完成，并且能够返回状态、输出和运行标识。工程态还必须明确调用者权限、超时策略、幂等键，以及失败后如何重试、回滚和审计。</a:t>
            </a:r>
            <a:endParaRPr lang="zh-CN" dirty="0"/>
          </a:p>
          <a:p>
            <a:r>
              <a:rPr lang="zh-CN" dirty="0"/>
              <a:t>这也是从实验走向交付的关键分水岭：结果存在只是起点，过程受控才是工程标准。后续所有业务 Skill 都应沿着这组边界进行封装和验收。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多智能体协作的基本链路是：主代理下发明确任务，子代理独立执行，完成事件回传后，主代理再进行汇总。这里强调的是完成事件和结构化输出，而不是主代理对过程的猜测。</a:t>
            </a:r>
            <a:endParaRPr lang="zh-CN" dirty="0"/>
          </a:p>
          <a:p>
            <a:r>
              <a:rPr lang="zh-CN" dirty="0"/>
              <a:t>测试结果中可以看到 accepted 状态、子会话标识、运行标识以及 READ_CHAIN_RESULT。它说明协作链路已经被实际触发并完成回传，下一步需要继续补齐任务失败、超时和重试时的统一语义。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Hermes 的验证进一步把协作动作放到了显式权限框架中。一次委托任务携带权限检查、九十秒超时和幂等键，执行路径通过 API Tool、Hermes 和 SSH 连接到受控环境。</a:t>
            </a:r>
            <a:endParaRPr lang="zh-CN" dirty="0"/>
          </a:p>
          <a:p>
            <a:r>
              <a:rPr lang="zh-CN" dirty="0"/>
              <a:t>最终结果只采信工具返回的 status、output 和 run_id。这样做的好处是输入、输出和完成条件都可追踪，也避免主代理用自己的分析替代工具真实返回的结果。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回到总判断：部署与能力验证已经完成阶段性闭环，OpenClaw 具备可复制的部署底座和可验证的协作链路。现在要做的不是继续堆叠更多演示，而是把权限与证据固化，把超时、幂等、审计和回滚变成默认能力。</a:t>
            </a:r>
            <a:endParaRPr lang="zh-CN" dirty="0"/>
          </a:p>
          <a:p>
            <a:r>
              <a:rPr lang="zh-CN" dirty="0"/>
              <a:t>下一阶段将从校园事务等验证样例走向受控业务接入。最终交付标准也会随之改变：从证明“能跑”，升级为证明“可控、可维护、可复核”。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penclaw-engineering-validation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457200" y="457200"/>
            <a:ext cx="76200" cy="7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904" y="556260"/>
            <a:ext cx="359664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spc="1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OPENCLAW / ENGINEERING VALIDATION</a:t>
            </a:r>
            <a:endParaRPr lang="zh-CN" sz="1200" spc="150" dirty="0">
              <a:solidFill>
                <a:schemeClr val="accent3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742950" y="1274445"/>
            <a:ext cx="4985868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OpenClaw 工程部署</a:t>
            </a:r>
            <a:endParaRPr lang="zh-CN" sz="3900" b="1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742950" y="1845945"/>
            <a:ext cx="2794444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与能力验证</a:t>
            </a:r>
            <a:endParaRPr lang="zh-CN" sz="3900" b="1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752094" y="2818448"/>
            <a:ext cx="3957447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从本地部署，到可复核的协作链路</a:t>
            </a:r>
            <a:endParaRPr lang="zh-CN" sz="195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Line 7"/>
          <p:cNvSpPr/>
          <p:nvPr/>
        </p:nvSpPr>
        <p:spPr>
          <a:xfrm>
            <a:off x="762000" y="3486150"/>
            <a:ext cx="4000500" cy="9525"/>
          </a:xfrm>
          <a:custGeom>
            <a:avLst/>
            <a:gdLst/>
            <a:ahLst/>
            <a:cxnLst/>
            <a:rect l="l" t="t" r="r" b="b"/>
            <a:pathLst>
              <a:path w="4000500" h="9525">
                <a:moveTo>
                  <a:pt x="0" y="0"/>
                </a:moveTo>
                <a:lnTo>
                  <a:pt x="4000500" y="0"/>
                </a:lnTo>
              </a:path>
            </a:pathLst>
          </a:custGeom>
          <a:noFill/>
          <a:ln w="19050">
            <a:solidFill>
              <a:schemeClr val="accent1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755142" y="3721418"/>
            <a:ext cx="321571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部署底座 · Skill / Tool · 多智能体联调</a:t>
            </a:r>
            <a:endParaRPr lang="zh-CN" sz="135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755904" y="4175760"/>
            <a:ext cx="19507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阶段性成果汇报 / 2026.08</a:t>
            </a:r>
            <a:endParaRPr lang="zh-CN" sz="1200" dirty="0">
              <a:solidFill>
                <a:schemeClr val="accent3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Rectangle 10"/>
          <p:cNvSpPr/>
          <p:nvPr/>
        </p:nvSpPr>
        <p:spPr>
          <a:xfrm>
            <a:off x="5810250" y="685800"/>
            <a:ext cx="5619750" cy="5486400"/>
          </a:xfrm>
          <a:prstGeom prst="rect">
            <a:avLst/>
          </a:prstGeom>
          <a:solidFill>
            <a:schemeClr val="lt2"/>
          </a:solidFill>
          <a:ln w="9525">
            <a:solidFill>
              <a:schemeClr val="accent1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6185535" y="945356"/>
            <a:ext cx="33611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spc="75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DEPLOYMENT TOPOLOGY / VERIFIED PATH</a:t>
            </a:r>
            <a:endParaRPr lang="zh-CN" sz="1120" spc="75" dirty="0">
              <a:solidFill>
                <a:schemeClr val="accent3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Line 12"/>
          <p:cNvSpPr/>
          <p:nvPr/>
        </p:nvSpPr>
        <p:spPr>
          <a:xfrm>
            <a:off x="6381750" y="1809750"/>
            <a:ext cx="4524375" cy="9525"/>
          </a:xfrm>
          <a:custGeom>
            <a:avLst/>
            <a:gdLst/>
            <a:ahLst/>
            <a:cxnLst/>
            <a:rect l="l" t="t" r="r" b="b"/>
            <a:pathLst>
              <a:path w="4524375" h="9525">
                <a:moveTo>
                  <a:pt x="0" y="0"/>
                </a:moveTo>
                <a:lnTo>
                  <a:pt x="4524375" y="0"/>
                </a:lnTo>
              </a:path>
            </a:pathLst>
          </a:custGeom>
          <a:noFill/>
          <a:ln w="9525">
            <a:solidFill>
              <a:schemeClr val="accent3"/>
            </a:solidFill>
          </a:ln>
        </p:spPr>
      </p:sp>
      <p:sp>
        <p:nvSpPr>
          <p:cNvPr id="13" name="Line 13"/>
          <p:cNvSpPr/>
          <p:nvPr/>
        </p:nvSpPr>
        <p:spPr>
          <a:xfrm>
            <a:off x="6381750" y="1809750"/>
            <a:ext cx="9525" cy="3524250"/>
          </a:xfrm>
          <a:custGeom>
            <a:avLst/>
            <a:gdLst/>
            <a:ahLst/>
            <a:cxnLst/>
            <a:rect l="l" t="t" r="r" b="b"/>
            <a:pathLst>
              <a:path w="9525" h="3524250">
                <a:moveTo>
                  <a:pt x="0" y="0"/>
                </a:moveTo>
                <a:lnTo>
                  <a:pt x="0" y="3524250"/>
                </a:lnTo>
              </a:path>
            </a:pathLst>
          </a:custGeom>
          <a:noFill/>
          <a:ln w="9525">
            <a:solidFill>
              <a:schemeClr val="accent3"/>
            </a:solidFill>
          </a:ln>
        </p:spPr>
      </p:sp>
      <p:sp>
        <p:nvSpPr>
          <p:cNvPr id="14" name="Line 14"/>
          <p:cNvSpPr/>
          <p:nvPr/>
        </p:nvSpPr>
        <p:spPr>
          <a:xfrm>
            <a:off x="6381750" y="5334000"/>
            <a:ext cx="4524375" cy="9525"/>
          </a:xfrm>
          <a:custGeom>
            <a:avLst/>
            <a:gdLst/>
            <a:ahLst/>
            <a:cxnLst/>
            <a:rect l="l" t="t" r="r" b="b"/>
            <a:pathLst>
              <a:path w="4524375" h="9525">
                <a:moveTo>
                  <a:pt x="0" y="0"/>
                </a:moveTo>
                <a:lnTo>
                  <a:pt x="4524375" y="0"/>
                </a:lnTo>
              </a:path>
            </a:pathLst>
          </a:custGeom>
          <a:noFill/>
          <a:ln w="9525">
            <a:solidFill>
              <a:schemeClr val="accent3"/>
            </a:solidFill>
          </a:ln>
        </p:spPr>
      </p:sp>
      <p:sp>
        <p:nvSpPr>
          <p:cNvPr id="15" name="Line 15"/>
          <p:cNvSpPr/>
          <p:nvPr/>
        </p:nvSpPr>
        <p:spPr>
          <a:xfrm>
            <a:off x="10906125" y="1809750"/>
            <a:ext cx="9525" cy="3524250"/>
          </a:xfrm>
          <a:custGeom>
            <a:avLst/>
            <a:gdLst/>
            <a:ahLst/>
            <a:cxnLst/>
            <a:rect l="l" t="t" r="r" b="b"/>
            <a:pathLst>
              <a:path w="9525" h="3524250">
                <a:moveTo>
                  <a:pt x="0" y="0"/>
                </a:moveTo>
                <a:lnTo>
                  <a:pt x="0" y="3524250"/>
                </a:lnTo>
              </a:path>
            </a:pathLst>
          </a:custGeom>
          <a:noFill/>
          <a:ln w="9525">
            <a:solidFill>
              <a:schemeClr val="accent3"/>
            </a:solidFill>
          </a:ln>
        </p:spPr>
      </p:sp>
      <p:sp>
        <p:nvSpPr>
          <p:cNvPr id="16" name="Ellipse 16"/>
          <p:cNvSpPr/>
          <p:nvPr/>
        </p:nvSpPr>
        <p:spPr>
          <a:xfrm>
            <a:off x="6343650" y="1771650"/>
            <a:ext cx="76200" cy="76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7" name="Ellipse 17"/>
          <p:cNvSpPr/>
          <p:nvPr/>
        </p:nvSpPr>
        <p:spPr>
          <a:xfrm>
            <a:off x="10868025" y="5295900"/>
            <a:ext cx="76200" cy="76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6667500" y="2114550"/>
            <a:ext cx="1666875" cy="819150"/>
          </a:xfrm>
          <a:prstGeom prst="rect">
            <a:avLst/>
          </a:prstGeom>
          <a:solidFill>
            <a:schemeClr val="lt1"/>
          </a:solidFill>
          <a:ln w="9525">
            <a:solidFill>
              <a:schemeClr val="accent1"/>
            </a:solidFill>
          </a:ln>
        </p:spPr>
      </p:sp>
      <p:grpSp>
        <p:nvGrpSpPr>
          <p:cNvPr id="23" name="Group 23"/>
          <p:cNvGrpSpPr/>
          <p:nvPr/>
        </p:nvGrpSpPr>
        <p:grpSpPr>
          <a:xfrm>
            <a:off x="6874669" y="2352675"/>
            <a:ext cx="214312" cy="190500"/>
            <a:chOff x="6874669" y="2352675"/>
            <a:chExt cx="214312" cy="190500"/>
          </a:xfrm>
        </p:grpSpPr>
        <p:sp>
          <p:nvSpPr>
            <p:cNvPr id="19" name="Freeform 19"/>
            <p:cNvSpPr/>
            <p:nvPr/>
          </p:nvSpPr>
          <p:spPr>
            <a:xfrm>
              <a:off x="6874669" y="2352675"/>
              <a:ext cx="214312" cy="95250"/>
            </a:xfrm>
            <a:custGeom>
              <a:avLst/>
              <a:gdLst/>
              <a:ahLst/>
              <a:cxnLst/>
              <a:rect l="l" t="t" r="r" b="b"/>
              <a:pathLst>
                <a:path w="214312" h="95250">
                  <a:moveTo>
                    <a:pt x="0" y="35719"/>
                  </a:moveTo>
                  <a:cubicBezTo>
                    <a:pt x="0" y="15992"/>
                    <a:pt x="15992" y="0"/>
                    <a:pt x="35719" y="0"/>
                  </a:cubicBezTo>
                  <a:lnTo>
                    <a:pt x="178594" y="0"/>
                  </a:lnTo>
                  <a:cubicBezTo>
                    <a:pt x="198321" y="0"/>
                    <a:pt x="214312" y="15992"/>
                    <a:pt x="214312" y="35719"/>
                  </a:cubicBezTo>
                  <a:lnTo>
                    <a:pt x="214312" y="59531"/>
                  </a:lnTo>
                  <a:cubicBezTo>
                    <a:pt x="214312" y="79258"/>
                    <a:pt x="198321" y="95250"/>
                    <a:pt x="178594" y="95250"/>
                  </a:cubicBezTo>
                  <a:lnTo>
                    <a:pt x="35719" y="95250"/>
                  </a:lnTo>
                  <a:cubicBezTo>
                    <a:pt x="15992" y="95250"/>
                    <a:pt x="0" y="79258"/>
                    <a:pt x="0" y="59531"/>
                  </a:cubicBezTo>
                  <a:lnTo>
                    <a:pt x="0" y="35719"/>
                  </a:lnTo>
                </a:path>
              </a:pathLst>
            </a:custGeom>
            <a:noFill/>
            <a:ln w="23812">
              <a:solidFill>
                <a:schemeClr val="accent1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6874669" y="2447925"/>
              <a:ext cx="214312" cy="95250"/>
            </a:xfrm>
            <a:custGeom>
              <a:avLst/>
              <a:gdLst/>
              <a:ahLst/>
              <a:cxnLst/>
              <a:rect l="l" t="t" r="r" b="b"/>
              <a:pathLst>
                <a:path w="214312" h="95250">
                  <a:moveTo>
                    <a:pt x="0" y="35719"/>
                  </a:moveTo>
                  <a:cubicBezTo>
                    <a:pt x="0" y="15992"/>
                    <a:pt x="15992" y="0"/>
                    <a:pt x="35719" y="0"/>
                  </a:cubicBezTo>
                  <a:lnTo>
                    <a:pt x="178594" y="0"/>
                  </a:lnTo>
                  <a:cubicBezTo>
                    <a:pt x="198321" y="0"/>
                    <a:pt x="214312" y="15992"/>
                    <a:pt x="214312" y="35719"/>
                  </a:cubicBezTo>
                  <a:lnTo>
                    <a:pt x="214312" y="59531"/>
                  </a:lnTo>
                  <a:cubicBezTo>
                    <a:pt x="214312" y="79258"/>
                    <a:pt x="198321" y="95250"/>
                    <a:pt x="178594" y="95250"/>
                  </a:cubicBezTo>
                  <a:lnTo>
                    <a:pt x="35719" y="95250"/>
                  </a:lnTo>
                  <a:cubicBezTo>
                    <a:pt x="15992" y="95250"/>
                    <a:pt x="0" y="79258"/>
                    <a:pt x="0" y="59531"/>
                  </a:cubicBezTo>
                  <a:lnTo>
                    <a:pt x="0" y="35719"/>
                  </a:lnTo>
                </a:path>
              </a:pathLst>
            </a:custGeom>
            <a:noFill/>
            <a:ln w="23812">
              <a:solidFill>
                <a:schemeClr val="accent1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6922294" y="2400300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119"/>
                  </a:lnTo>
                </a:path>
              </a:pathLst>
            </a:custGeom>
            <a:noFill/>
            <a:ln w="23812">
              <a:solidFill>
                <a:schemeClr val="accent1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6922294" y="2495550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119"/>
                  </a:lnTo>
                </a:path>
              </a:pathLst>
            </a:custGeom>
            <a:noFill/>
            <a:ln w="23812">
              <a:solidFill>
                <a:schemeClr val="accent1"/>
              </a:solidFill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7232142" y="2330768"/>
            <a:ext cx="113372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Linux Server</a:t>
            </a:r>
            <a:endParaRPr lang="zh-CN" sz="135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7233666" y="2591752"/>
            <a:ext cx="100328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Docker / WSL2</a:t>
            </a:r>
            <a:endParaRPr lang="zh-CN" sz="1050" dirty="0">
              <a:solidFill>
                <a:schemeClr val="accent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6" name="Rectangle 26"/>
          <p:cNvSpPr/>
          <p:nvPr/>
        </p:nvSpPr>
        <p:spPr>
          <a:xfrm>
            <a:off x="8763000" y="2114550"/>
            <a:ext cx="1666875" cy="819150"/>
          </a:xfrm>
          <a:prstGeom prst="rect">
            <a:avLst/>
          </a:prstGeom>
          <a:solidFill>
            <a:schemeClr val="lt1"/>
          </a:solidFill>
          <a:ln w="9525">
            <a:solidFill>
              <a:schemeClr val="accent1"/>
            </a:solidFill>
          </a:ln>
        </p:spPr>
      </p:sp>
      <p:grpSp>
        <p:nvGrpSpPr>
          <p:cNvPr id="38" name="Group 38"/>
          <p:cNvGrpSpPr/>
          <p:nvPr/>
        </p:nvGrpSpPr>
        <p:grpSpPr>
          <a:xfrm>
            <a:off x="8970169" y="2352675"/>
            <a:ext cx="214705" cy="208359"/>
            <a:chOff x="8970169" y="2352675"/>
            <a:chExt cx="214705" cy="208359"/>
          </a:xfrm>
        </p:grpSpPr>
        <p:sp>
          <p:nvSpPr>
            <p:cNvPr id="27" name="Freeform 27"/>
            <p:cNvSpPr/>
            <p:nvPr/>
          </p:nvSpPr>
          <p:spPr>
            <a:xfrm>
              <a:off x="8970169" y="2352675"/>
              <a:ext cx="214312" cy="95250"/>
            </a:xfrm>
            <a:custGeom>
              <a:avLst/>
              <a:gdLst/>
              <a:ahLst/>
              <a:cxnLst/>
              <a:rect l="l" t="t" r="r" b="b"/>
              <a:pathLst>
                <a:path w="214312" h="95250">
                  <a:moveTo>
                    <a:pt x="0" y="35719"/>
                  </a:moveTo>
                  <a:cubicBezTo>
                    <a:pt x="0" y="15992"/>
                    <a:pt x="15992" y="0"/>
                    <a:pt x="35719" y="0"/>
                  </a:cubicBezTo>
                  <a:lnTo>
                    <a:pt x="178594" y="0"/>
                  </a:lnTo>
                  <a:cubicBezTo>
                    <a:pt x="198321" y="0"/>
                    <a:pt x="214312" y="15992"/>
                    <a:pt x="214312" y="35719"/>
                  </a:cubicBezTo>
                  <a:lnTo>
                    <a:pt x="214312" y="59531"/>
                  </a:lnTo>
                  <a:cubicBezTo>
                    <a:pt x="214312" y="79258"/>
                    <a:pt x="198321" y="95250"/>
                    <a:pt x="178594" y="95250"/>
                  </a:cubicBezTo>
                  <a:lnTo>
                    <a:pt x="35719" y="95250"/>
                  </a:lnTo>
                  <a:cubicBezTo>
                    <a:pt x="15992" y="95250"/>
                    <a:pt x="0" y="79258"/>
                    <a:pt x="0" y="59531"/>
                  </a:cubicBezTo>
                  <a:lnTo>
                    <a:pt x="0" y="35719"/>
                  </a:lnTo>
                </a:path>
              </a:pathLst>
            </a:custGeom>
            <a:noFill/>
            <a:ln w="23812">
              <a:solidFill>
                <a:schemeClr val="accent1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8970169" y="2447925"/>
              <a:ext cx="160734" cy="95250"/>
            </a:xfrm>
            <a:custGeom>
              <a:avLst/>
              <a:gdLst/>
              <a:ahLst/>
              <a:cxnLst/>
              <a:rect l="l" t="t" r="r" b="b"/>
              <a:pathLst>
                <a:path w="160734" h="95250">
                  <a:moveTo>
                    <a:pt x="107156" y="95250"/>
                  </a:moveTo>
                  <a:lnTo>
                    <a:pt x="35719" y="95250"/>
                  </a:lnTo>
                  <a:cubicBezTo>
                    <a:pt x="15992" y="95250"/>
                    <a:pt x="0" y="79258"/>
                    <a:pt x="0" y="59531"/>
                  </a:cubicBezTo>
                  <a:lnTo>
                    <a:pt x="0" y="35719"/>
                  </a:lnTo>
                  <a:cubicBezTo>
                    <a:pt x="0" y="15992"/>
                    <a:pt x="15992" y="0"/>
                    <a:pt x="35719" y="0"/>
                  </a:cubicBezTo>
                  <a:lnTo>
                    <a:pt x="160734" y="0"/>
                  </a:lnTo>
                </a:path>
              </a:pathLst>
            </a:custGeom>
            <a:noFill/>
            <a:ln w="23812">
              <a:solidFill>
                <a:schemeClr val="accent1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9124950" y="2495550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0" y="23812"/>
                  </a:moveTo>
                  <a:cubicBezTo>
                    <a:pt x="0" y="36964"/>
                    <a:pt x="10661" y="47625"/>
                    <a:pt x="23812" y="47625"/>
                  </a:cubicBezTo>
                  <a:cubicBezTo>
                    <a:pt x="36964" y="47625"/>
                    <a:pt x="47625" y="36964"/>
                    <a:pt x="47625" y="23812"/>
                  </a:cubicBezTo>
                  <a:cubicBezTo>
                    <a:pt x="47625" y="10661"/>
                    <a:pt x="36964" y="0"/>
                    <a:pt x="23812" y="0"/>
                  </a:cubicBezTo>
                  <a:cubicBezTo>
                    <a:pt x="10661" y="0"/>
                    <a:pt x="0" y="10661"/>
                    <a:pt x="0" y="23812"/>
                  </a:cubicBezTo>
                </a:path>
              </a:pathLst>
            </a:custGeom>
            <a:noFill/>
            <a:ln w="23812">
              <a:solidFill>
                <a:schemeClr val="accent1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9148762" y="2477691"/>
              <a:ext cx="9525" cy="17859"/>
            </a:xfrm>
            <a:custGeom>
              <a:avLst/>
              <a:gdLst/>
              <a:ahLst/>
              <a:cxnLst/>
              <a:rect l="l" t="t" r="r" b="b"/>
              <a:pathLst>
                <a:path w="9525" h="17859">
                  <a:moveTo>
                    <a:pt x="0" y="0"/>
                  </a:moveTo>
                  <a:lnTo>
                    <a:pt x="0" y="17859"/>
                  </a:lnTo>
                </a:path>
              </a:pathLst>
            </a:custGeom>
            <a:noFill/>
            <a:ln w="23812">
              <a:solidFill>
                <a:schemeClr val="accent1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9148762" y="2543175"/>
              <a:ext cx="9525" cy="17859"/>
            </a:xfrm>
            <a:custGeom>
              <a:avLst/>
              <a:gdLst/>
              <a:ahLst/>
              <a:cxnLst/>
              <a:rect l="l" t="t" r="r" b="b"/>
              <a:pathLst>
                <a:path w="9525" h="17859">
                  <a:moveTo>
                    <a:pt x="0" y="0"/>
                  </a:moveTo>
                  <a:lnTo>
                    <a:pt x="0" y="17859"/>
                  </a:lnTo>
                </a:path>
              </a:pathLst>
            </a:custGeom>
            <a:noFill/>
            <a:ln w="23812">
              <a:solidFill>
                <a:schemeClr val="accent1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9169396" y="2498527"/>
              <a:ext cx="15466" cy="9525"/>
            </a:xfrm>
            <a:custGeom>
              <a:avLst/>
              <a:gdLst/>
              <a:ahLst/>
              <a:cxnLst/>
              <a:rect l="l" t="t" r="r" b="b"/>
              <a:pathLst>
                <a:path w="15466" h="9525">
                  <a:moveTo>
                    <a:pt x="15466" y="0"/>
                  </a:moveTo>
                  <a:lnTo>
                    <a:pt x="0" y="8930"/>
                  </a:lnTo>
                </a:path>
              </a:pathLst>
            </a:custGeom>
            <a:noFill/>
            <a:ln w="23812">
              <a:solidFill>
                <a:schemeClr val="accent1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9112687" y="2531269"/>
              <a:ext cx="15478" cy="9525"/>
            </a:xfrm>
            <a:custGeom>
              <a:avLst/>
              <a:gdLst/>
              <a:ahLst/>
              <a:cxnLst/>
              <a:rect l="l" t="t" r="r" b="b"/>
              <a:pathLst>
                <a:path w="15478" h="9525">
                  <a:moveTo>
                    <a:pt x="15478" y="0"/>
                  </a:moveTo>
                  <a:lnTo>
                    <a:pt x="0" y="8930"/>
                  </a:lnTo>
                </a:path>
              </a:pathLst>
            </a:custGeom>
            <a:noFill/>
            <a:ln w="23812">
              <a:solidFill>
                <a:schemeClr val="accent1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9112687" y="2498527"/>
              <a:ext cx="15478" cy="9525"/>
            </a:xfrm>
            <a:custGeom>
              <a:avLst/>
              <a:gdLst/>
              <a:ahLst/>
              <a:cxnLst/>
              <a:rect l="l" t="t" r="r" b="b"/>
              <a:pathLst>
                <a:path w="15478" h="9525">
                  <a:moveTo>
                    <a:pt x="0" y="0"/>
                  </a:moveTo>
                  <a:lnTo>
                    <a:pt x="15478" y="8930"/>
                  </a:lnTo>
                </a:path>
              </a:pathLst>
            </a:custGeom>
            <a:noFill/>
            <a:ln w="23812">
              <a:solidFill>
                <a:schemeClr val="accent1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9169396" y="2531269"/>
              <a:ext cx="15478" cy="9525"/>
            </a:xfrm>
            <a:custGeom>
              <a:avLst/>
              <a:gdLst/>
              <a:ahLst/>
              <a:cxnLst/>
              <a:rect l="l" t="t" r="r" b="b"/>
              <a:pathLst>
                <a:path w="15478" h="9525">
                  <a:moveTo>
                    <a:pt x="0" y="0"/>
                  </a:moveTo>
                  <a:lnTo>
                    <a:pt x="15478" y="8930"/>
                  </a:lnTo>
                </a:path>
              </a:pathLst>
            </a:custGeom>
            <a:noFill/>
            <a:ln w="23812">
              <a:solidFill>
                <a:schemeClr val="accent1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9017794" y="2400300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119"/>
                  </a:lnTo>
                </a:path>
              </a:pathLst>
            </a:custGeom>
            <a:noFill/>
            <a:ln w="23812">
              <a:solidFill>
                <a:schemeClr val="accent1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9017794" y="2495550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119"/>
                  </a:lnTo>
                </a:path>
              </a:pathLst>
            </a:custGeom>
            <a:noFill/>
            <a:ln w="23812">
              <a:solidFill>
                <a:schemeClr val="accent1"/>
              </a:solidFill>
            </a:ln>
          </p:spPr>
        </p:sp>
      </p:grpSp>
      <p:sp>
        <p:nvSpPr>
          <p:cNvPr id="39" name="TextBox 39"/>
          <p:cNvSpPr txBox="1"/>
          <p:nvPr/>
        </p:nvSpPr>
        <p:spPr>
          <a:xfrm>
            <a:off x="9327642" y="2330768"/>
            <a:ext cx="101361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Windows PC</a:t>
            </a:r>
            <a:endParaRPr lang="zh-CN" sz="135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9329166" y="2591752"/>
            <a:ext cx="82214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USB / Serial</a:t>
            </a:r>
            <a:endParaRPr lang="zh-CN" sz="1050" dirty="0">
              <a:solidFill>
                <a:schemeClr val="accent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1" name="Line 41"/>
          <p:cNvSpPr/>
          <p:nvPr/>
        </p:nvSpPr>
        <p:spPr>
          <a:xfrm>
            <a:off x="7496175" y="2933700"/>
            <a:ext cx="9525" cy="533400"/>
          </a:xfrm>
          <a:custGeom>
            <a:avLst/>
            <a:gdLst/>
            <a:ahLst/>
            <a:cxnLst/>
            <a:rect l="l" t="t" r="r" b="b"/>
            <a:pathLst>
              <a:path w="9525" h="533400">
                <a:moveTo>
                  <a:pt x="0" y="0"/>
                </a:moveTo>
                <a:lnTo>
                  <a:pt x="0" y="533400"/>
                </a:lnTo>
              </a:path>
            </a:pathLst>
          </a:custGeom>
          <a:noFill/>
          <a:ln w="28575">
            <a:solidFill>
              <a:schemeClr val="accent2"/>
            </a:solidFill>
          </a:ln>
        </p:spPr>
      </p:sp>
      <p:sp>
        <p:nvSpPr>
          <p:cNvPr id="42" name="Line 42"/>
          <p:cNvSpPr/>
          <p:nvPr/>
        </p:nvSpPr>
        <p:spPr>
          <a:xfrm>
            <a:off x="9591675" y="2933700"/>
            <a:ext cx="9525" cy="533400"/>
          </a:xfrm>
          <a:custGeom>
            <a:avLst/>
            <a:gdLst/>
            <a:ahLst/>
            <a:cxnLst/>
            <a:rect l="l" t="t" r="r" b="b"/>
            <a:pathLst>
              <a:path w="9525" h="533400">
                <a:moveTo>
                  <a:pt x="0" y="0"/>
                </a:moveTo>
                <a:lnTo>
                  <a:pt x="0" y="533400"/>
                </a:lnTo>
              </a:path>
            </a:pathLst>
          </a:custGeom>
          <a:noFill/>
          <a:ln w="28575">
            <a:solidFill>
              <a:schemeClr val="accent2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7892796" y="3240087"/>
            <a:ext cx="130403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受控网络 / 明确边界</a:t>
            </a:r>
            <a:endParaRPr lang="zh-CN" sz="1050" dirty="0">
              <a:solidFill>
                <a:schemeClr val="accent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6" name="Rectangle 46"/>
          <p:cNvSpPr/>
          <p:nvPr/>
        </p:nvSpPr>
        <p:spPr>
          <a:xfrm>
            <a:off x="7232015" y="3721735"/>
            <a:ext cx="2718435" cy="819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2" name="Group 52"/>
          <p:cNvGrpSpPr/>
          <p:nvPr/>
        </p:nvGrpSpPr>
        <p:grpSpPr>
          <a:xfrm>
            <a:off x="7643812" y="3956328"/>
            <a:ext cx="238125" cy="229909"/>
            <a:chOff x="7643812" y="3956328"/>
            <a:chExt cx="238125" cy="229909"/>
          </a:xfrm>
        </p:grpSpPr>
        <p:sp>
          <p:nvSpPr>
            <p:cNvPr id="47" name="Freeform 47"/>
            <p:cNvSpPr/>
            <p:nvPr/>
          </p:nvSpPr>
          <p:spPr>
            <a:xfrm>
              <a:off x="7655719" y="4162425"/>
              <a:ext cx="83344" cy="9525"/>
            </a:xfrm>
            <a:custGeom>
              <a:avLst/>
              <a:gdLst/>
              <a:ahLst/>
              <a:cxnLst/>
              <a:rect l="l" t="t" r="r" b="b"/>
              <a:pathLst>
                <a:path w="83344" h="9525">
                  <a:moveTo>
                    <a:pt x="0" y="0"/>
                  </a:moveTo>
                  <a:lnTo>
                    <a:pt x="83344" y="0"/>
                  </a:lnTo>
                </a:path>
              </a:pathLst>
            </a:custGeom>
            <a:noFill/>
            <a:ln w="23812">
              <a:solidFill>
                <a:srgbClr val="E9E6DF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7786688" y="4162425"/>
              <a:ext cx="83344" cy="9525"/>
            </a:xfrm>
            <a:custGeom>
              <a:avLst/>
              <a:gdLst/>
              <a:ahLst/>
              <a:cxnLst/>
              <a:rect l="l" t="t" r="r" b="b"/>
              <a:pathLst>
                <a:path w="83344" h="9525">
                  <a:moveTo>
                    <a:pt x="0" y="0"/>
                  </a:moveTo>
                  <a:lnTo>
                    <a:pt x="83344" y="0"/>
                  </a:lnTo>
                </a:path>
              </a:pathLst>
            </a:custGeom>
            <a:noFill/>
            <a:ln w="23812">
              <a:solidFill>
                <a:srgbClr val="E9E6DF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7739062" y="4138612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0" y="23812"/>
                  </a:moveTo>
                  <a:cubicBezTo>
                    <a:pt x="0" y="36964"/>
                    <a:pt x="10661" y="47625"/>
                    <a:pt x="23812" y="47625"/>
                  </a:cubicBezTo>
                  <a:cubicBezTo>
                    <a:pt x="36964" y="47625"/>
                    <a:pt x="47625" y="36964"/>
                    <a:pt x="47625" y="23812"/>
                  </a:cubicBezTo>
                  <a:cubicBezTo>
                    <a:pt x="47625" y="10661"/>
                    <a:pt x="36964" y="0"/>
                    <a:pt x="23812" y="0"/>
                  </a:cubicBezTo>
                  <a:cubicBezTo>
                    <a:pt x="10661" y="0"/>
                    <a:pt x="0" y="10661"/>
                    <a:pt x="0" y="23812"/>
                  </a:cubicBezTo>
                </a:path>
              </a:pathLst>
            </a:custGeom>
            <a:noFill/>
            <a:ln w="23812">
              <a:solidFill>
                <a:srgbClr val="E9E6DF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7762875" y="4114800"/>
              <a:ext cx="9525" cy="23812"/>
            </a:xfrm>
            <a:custGeom>
              <a:avLst/>
              <a:gdLst/>
              <a:ahLst/>
              <a:cxnLst/>
              <a:rect l="l" t="t" r="r" b="b"/>
              <a:pathLst>
                <a:path w="9525" h="23812">
                  <a:moveTo>
                    <a:pt x="0" y="0"/>
                  </a:moveTo>
                  <a:lnTo>
                    <a:pt x="0" y="23812"/>
                  </a:lnTo>
                </a:path>
              </a:pathLst>
            </a:custGeom>
            <a:noFill/>
            <a:ln w="23812">
              <a:solidFill>
                <a:srgbClr val="E9E6DF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7643812" y="3956328"/>
              <a:ext cx="238125" cy="158520"/>
            </a:xfrm>
            <a:custGeom>
              <a:avLst/>
              <a:gdLst/>
              <a:ahLst/>
              <a:cxnLst/>
              <a:rect l="l" t="t" r="r" b="b"/>
              <a:pathLst>
                <a:path w="238125" h="158520">
                  <a:moveTo>
                    <a:pt x="71438" y="158520"/>
                  </a:moveTo>
                  <a:lnTo>
                    <a:pt x="55447" y="158520"/>
                  </a:lnTo>
                  <a:cubicBezTo>
                    <a:pt x="24825" y="158472"/>
                    <a:pt x="0" y="134576"/>
                    <a:pt x="0" y="105096"/>
                  </a:cubicBezTo>
                  <a:cubicBezTo>
                    <a:pt x="0" y="75628"/>
                    <a:pt x="24825" y="51733"/>
                    <a:pt x="55447" y="51733"/>
                  </a:cubicBezTo>
                  <a:cubicBezTo>
                    <a:pt x="60127" y="30754"/>
                    <a:pt x="76807" y="13633"/>
                    <a:pt x="99203" y="6810"/>
                  </a:cubicBezTo>
                  <a:cubicBezTo>
                    <a:pt x="121587" y="0"/>
                    <a:pt x="146304" y="4512"/>
                    <a:pt x="164021" y="18717"/>
                  </a:cubicBezTo>
                  <a:cubicBezTo>
                    <a:pt x="181737" y="32885"/>
                    <a:pt x="189762" y="54519"/>
                    <a:pt x="185095" y="75498"/>
                  </a:cubicBezTo>
                  <a:lnTo>
                    <a:pt x="196882" y="75498"/>
                  </a:lnTo>
                  <a:cubicBezTo>
                    <a:pt x="219658" y="75498"/>
                    <a:pt x="238125" y="94071"/>
                    <a:pt x="238125" y="117003"/>
                  </a:cubicBezTo>
                  <a:cubicBezTo>
                    <a:pt x="238125" y="139946"/>
                    <a:pt x="219658" y="158520"/>
                    <a:pt x="196870" y="158520"/>
                  </a:cubicBezTo>
                  <a:lnTo>
                    <a:pt x="166688" y="158520"/>
                  </a:lnTo>
                </a:path>
              </a:pathLst>
            </a:custGeom>
            <a:noFill/>
            <a:ln w="23812">
              <a:solidFill>
                <a:srgbClr val="E9E6DF"/>
              </a:solidFill>
            </a:ln>
          </p:spPr>
        </p:sp>
      </p:grpSp>
      <p:sp>
        <p:nvSpPr>
          <p:cNvPr id="53" name="TextBox 53"/>
          <p:cNvSpPr txBox="1"/>
          <p:nvPr/>
        </p:nvSpPr>
        <p:spPr>
          <a:xfrm>
            <a:off x="8012430" y="3933825"/>
            <a:ext cx="183276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7F5F0"/>
                </a:solidFill>
                <a:latin typeface="+mn-lt"/>
                <a:ea typeface="+mn-ea"/>
                <a:cs typeface="+mn-cs"/>
              </a:rPr>
              <a:t>OpenClaw Gateway</a:t>
            </a:r>
            <a:endParaRPr lang="zh-CN" sz="1500" dirty="0">
              <a:solidFill>
                <a:srgbClr val="F7F5F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8014716" y="4211002"/>
            <a:ext cx="159379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9E6D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ws://127.0.0.1:18789</a:t>
            </a:r>
            <a:endParaRPr lang="zh-CN" sz="1050" dirty="0">
              <a:solidFill>
                <a:srgbClr val="E9E6D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55" name="Line 55"/>
          <p:cNvSpPr/>
          <p:nvPr/>
        </p:nvSpPr>
        <p:spPr>
          <a:xfrm>
            <a:off x="8569960" y="4552950"/>
            <a:ext cx="9525" cy="400050"/>
          </a:xfrm>
          <a:custGeom>
            <a:avLst/>
            <a:gdLst/>
            <a:ahLst/>
            <a:cxnLst/>
            <a:rect l="l" t="t" r="r" b="b"/>
            <a:pathLst>
              <a:path w="9525" h="400050">
                <a:moveTo>
                  <a:pt x="0" y="0"/>
                </a:moveTo>
                <a:lnTo>
                  <a:pt x="0" y="400050"/>
                </a:lnTo>
              </a:path>
            </a:pathLst>
          </a:custGeom>
          <a:noFill/>
          <a:ln w="28575">
            <a:solidFill>
              <a:schemeClr val="accent2"/>
            </a:solidFill>
          </a:ln>
        </p:spPr>
      </p:sp>
      <p:sp>
        <p:nvSpPr>
          <p:cNvPr id="56" name="Polygon 56"/>
          <p:cNvSpPr/>
          <p:nvPr/>
        </p:nvSpPr>
        <p:spPr>
          <a:xfrm>
            <a:off x="8474710" y="48577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0"/>
                </a:moveTo>
                <a:lnTo>
                  <a:pt x="95250" y="190500"/>
                </a:lnTo>
                <a:lnTo>
                  <a:pt x="19050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8707501" y="469677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统一入口</a:t>
            </a:r>
            <a:endParaRPr lang="zh-CN" sz="1050" dirty="0">
              <a:solidFill>
                <a:schemeClr val="accent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8" name="Rectangle 58"/>
          <p:cNvSpPr/>
          <p:nvPr/>
        </p:nvSpPr>
        <p:spPr>
          <a:xfrm>
            <a:off x="6667500" y="5048250"/>
            <a:ext cx="1143000" cy="438150"/>
          </a:xfrm>
          <a:prstGeom prst="rect">
            <a:avLst/>
          </a:prstGeom>
          <a:solidFill>
            <a:schemeClr val="lt2"/>
          </a:solidFill>
          <a:ln w="9525">
            <a:solidFill>
              <a:schemeClr val="accent1"/>
            </a:solidFill>
          </a:ln>
        </p:spPr>
      </p:sp>
      <p:grpSp>
        <p:nvGrpSpPr>
          <p:cNvPr id="68" name="Group 68"/>
          <p:cNvGrpSpPr/>
          <p:nvPr/>
        </p:nvGrpSpPr>
        <p:grpSpPr>
          <a:xfrm>
            <a:off x="6791325" y="5172075"/>
            <a:ext cx="140335" cy="182880"/>
            <a:chOff x="6829425" y="5143500"/>
            <a:chExt cx="133350" cy="180975"/>
          </a:xfrm>
        </p:grpSpPr>
        <p:sp>
          <p:nvSpPr>
            <p:cNvPr id="59" name="Freeform 59"/>
            <p:cNvSpPr/>
            <p:nvPr/>
          </p:nvSpPr>
          <p:spPr>
            <a:xfrm>
              <a:off x="6838950" y="5162550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0" y="19050"/>
                  </a:moveTo>
                  <a:cubicBezTo>
                    <a:pt x="0" y="8529"/>
                    <a:pt x="8529" y="0"/>
                    <a:pt x="19050" y="0"/>
                  </a:cubicBezTo>
                  <a:lnTo>
                    <a:pt x="95250" y="0"/>
                  </a:lnTo>
                  <a:cubicBezTo>
                    <a:pt x="105771" y="0"/>
                    <a:pt x="114300" y="8529"/>
                    <a:pt x="114300" y="19050"/>
                  </a:cubicBezTo>
                  <a:lnTo>
                    <a:pt x="114300" y="57150"/>
                  </a:lnTo>
                  <a:cubicBezTo>
                    <a:pt x="114300" y="67671"/>
                    <a:pt x="105771" y="76200"/>
                    <a:pt x="95250" y="76200"/>
                  </a:cubicBezTo>
                  <a:lnTo>
                    <a:pt x="19050" y="76200"/>
                  </a:lnTo>
                  <a:cubicBezTo>
                    <a:pt x="8529" y="76200"/>
                    <a:pt x="0" y="67671"/>
                    <a:pt x="0" y="57150"/>
                  </a:cubicBezTo>
                  <a:lnTo>
                    <a:pt x="0" y="1905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6896100" y="5143500"/>
              <a:ext cx="9525" cy="19050"/>
            </a:xfrm>
            <a:custGeom>
              <a:avLst/>
              <a:gdLst/>
              <a:ahLst/>
              <a:cxnLst/>
              <a:rect l="l" t="t" r="r" b="b"/>
              <a:pathLst>
                <a:path w="9525" h="19050">
                  <a:moveTo>
                    <a:pt x="0" y="0"/>
                  </a:moveTo>
                  <a:lnTo>
                    <a:pt x="0" y="1905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61" name="Freeform 61"/>
            <p:cNvSpPr/>
            <p:nvPr/>
          </p:nvSpPr>
          <p:spPr>
            <a:xfrm>
              <a:off x="6867525" y="5238750"/>
              <a:ext cx="9525" cy="85725"/>
            </a:xfrm>
            <a:custGeom>
              <a:avLst/>
              <a:gdLst/>
              <a:ahLst/>
              <a:cxnLst/>
              <a:rect l="l" t="t" r="r" b="b"/>
              <a:pathLst>
                <a:path w="9525" h="85725">
                  <a:moveTo>
                    <a:pt x="0" y="0"/>
                  </a:moveTo>
                  <a:lnTo>
                    <a:pt x="0" y="85725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62" name="Freeform 62"/>
            <p:cNvSpPr/>
            <p:nvPr/>
          </p:nvSpPr>
          <p:spPr>
            <a:xfrm>
              <a:off x="6924675" y="5238750"/>
              <a:ext cx="9525" cy="85725"/>
            </a:xfrm>
            <a:custGeom>
              <a:avLst/>
              <a:gdLst/>
              <a:ahLst/>
              <a:cxnLst/>
              <a:rect l="l" t="t" r="r" b="b"/>
              <a:pathLst>
                <a:path w="9525" h="85725">
                  <a:moveTo>
                    <a:pt x="0" y="0"/>
                  </a:moveTo>
                  <a:lnTo>
                    <a:pt x="0" y="85725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63" name="Freeform 63"/>
            <p:cNvSpPr/>
            <p:nvPr/>
          </p:nvSpPr>
          <p:spPr>
            <a:xfrm>
              <a:off x="6829425" y="5257800"/>
              <a:ext cx="38100" cy="19050"/>
            </a:xfrm>
            <a:custGeom>
              <a:avLst/>
              <a:gdLst/>
              <a:ahLst/>
              <a:cxnLst/>
              <a:rect l="l" t="t" r="r" b="b"/>
              <a:pathLst>
                <a:path w="38100" h="19050">
                  <a:moveTo>
                    <a:pt x="0" y="19050"/>
                  </a:moveTo>
                  <a:lnTo>
                    <a:pt x="381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64" name="Freeform 64"/>
            <p:cNvSpPr/>
            <p:nvPr/>
          </p:nvSpPr>
          <p:spPr>
            <a:xfrm>
              <a:off x="6924675" y="5257800"/>
              <a:ext cx="38100" cy="19050"/>
            </a:xfrm>
            <a:custGeom>
              <a:avLst/>
              <a:gdLst/>
              <a:ahLst/>
              <a:cxnLst/>
              <a:rect l="l" t="t" r="r" b="b"/>
              <a:pathLst>
                <a:path w="38100" h="19050">
                  <a:moveTo>
                    <a:pt x="0" y="0"/>
                  </a:moveTo>
                  <a:lnTo>
                    <a:pt x="38100" y="1905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65" name="Freeform 65"/>
            <p:cNvSpPr/>
            <p:nvPr/>
          </p:nvSpPr>
          <p:spPr>
            <a:xfrm>
              <a:off x="6867525" y="5295900"/>
              <a:ext cx="57150" cy="9525"/>
            </a:xfrm>
            <a:custGeom>
              <a:avLst/>
              <a:gdLst/>
              <a:ahLst/>
              <a:cxnLst/>
              <a:rect l="l" t="t" r="r" b="b"/>
              <a:pathLst>
                <a:path w="57150" h="9525">
                  <a:moveTo>
                    <a:pt x="0" y="0"/>
                  </a:moveTo>
                  <a:lnTo>
                    <a:pt x="5715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66" name="Freeform 66"/>
            <p:cNvSpPr/>
            <p:nvPr/>
          </p:nvSpPr>
          <p:spPr>
            <a:xfrm>
              <a:off x="6877050" y="5200650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95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67" name="Freeform 67"/>
            <p:cNvSpPr/>
            <p:nvPr/>
          </p:nvSpPr>
          <p:spPr>
            <a:xfrm>
              <a:off x="6915150" y="5200650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95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</p:grpSp>
      <p:sp>
        <p:nvSpPr>
          <p:cNvPr id="69" name="TextBox 69"/>
          <p:cNvSpPr txBox="1"/>
          <p:nvPr/>
        </p:nvSpPr>
        <p:spPr>
          <a:xfrm>
            <a:off x="7080885" y="5174456"/>
            <a:ext cx="31297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模型</a:t>
            </a:r>
            <a:endParaRPr lang="zh-CN" sz="112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0" name="Rectangle 70"/>
          <p:cNvSpPr/>
          <p:nvPr/>
        </p:nvSpPr>
        <p:spPr>
          <a:xfrm>
            <a:off x="8001000" y="5048250"/>
            <a:ext cx="1143000" cy="438150"/>
          </a:xfrm>
          <a:prstGeom prst="rect">
            <a:avLst/>
          </a:prstGeom>
          <a:solidFill>
            <a:schemeClr val="lt2"/>
          </a:solidFill>
          <a:ln w="9525">
            <a:solidFill>
              <a:schemeClr val="accent1"/>
            </a:solidFill>
          </a:ln>
        </p:spPr>
      </p:sp>
      <p:sp>
        <p:nvSpPr>
          <p:cNvPr id="71" name="Freeform 71"/>
          <p:cNvSpPr/>
          <p:nvPr/>
        </p:nvSpPr>
        <p:spPr>
          <a:xfrm>
            <a:off x="8056920" y="5174655"/>
            <a:ext cx="180253" cy="180253"/>
          </a:xfrm>
          <a:custGeom>
            <a:avLst/>
            <a:gdLst/>
            <a:ahLst/>
            <a:cxnLst/>
            <a:rect l="l" t="t" r="r" b="b"/>
            <a:pathLst>
              <a:path w="180253" h="180253">
                <a:moveTo>
                  <a:pt x="43775" y="72350"/>
                </a:moveTo>
                <a:lnTo>
                  <a:pt x="72350" y="72350"/>
                </a:lnTo>
                <a:lnTo>
                  <a:pt x="72350" y="43775"/>
                </a:lnTo>
                <a:lnTo>
                  <a:pt x="39013" y="10438"/>
                </a:lnTo>
                <a:cubicBezTo>
                  <a:pt x="60867" y="0"/>
                  <a:pt x="86928" y="4471"/>
                  <a:pt x="104053" y="21597"/>
                </a:cubicBezTo>
                <a:cubicBezTo>
                  <a:pt x="121179" y="38722"/>
                  <a:pt x="125650" y="64783"/>
                  <a:pt x="115213" y="86638"/>
                </a:cubicBezTo>
                <a:lnTo>
                  <a:pt x="172363" y="143788"/>
                </a:lnTo>
                <a:cubicBezTo>
                  <a:pt x="180253" y="151678"/>
                  <a:pt x="180253" y="164472"/>
                  <a:pt x="172363" y="172363"/>
                </a:cubicBezTo>
                <a:cubicBezTo>
                  <a:pt x="164472" y="180253"/>
                  <a:pt x="151678" y="180253"/>
                  <a:pt x="143788" y="172363"/>
                </a:cubicBezTo>
                <a:lnTo>
                  <a:pt x="86638" y="115213"/>
                </a:lnTo>
                <a:cubicBezTo>
                  <a:pt x="64783" y="125650"/>
                  <a:pt x="38722" y="121179"/>
                  <a:pt x="21597" y="104053"/>
                </a:cubicBezTo>
                <a:cubicBezTo>
                  <a:pt x="4471" y="86928"/>
                  <a:pt x="0" y="60867"/>
                  <a:pt x="10438" y="39013"/>
                </a:cubicBezTo>
                <a:lnTo>
                  <a:pt x="43775" y="72350"/>
                </a:lnTo>
              </a:path>
            </a:pathLst>
          </a:custGeom>
          <a:noFill/>
          <a:ln w="19050">
            <a:solidFill>
              <a:schemeClr val="accent1"/>
            </a:solidFill>
          </a:ln>
        </p:spPr>
      </p:sp>
      <p:sp>
        <p:nvSpPr>
          <p:cNvPr id="72" name="TextBox 72"/>
          <p:cNvSpPr txBox="1"/>
          <p:nvPr/>
        </p:nvSpPr>
        <p:spPr>
          <a:xfrm>
            <a:off x="8299450" y="5174456"/>
            <a:ext cx="87294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Skills / Tool</a:t>
            </a:r>
            <a:endParaRPr lang="zh-CN" sz="112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3" name="Rectangle 73"/>
          <p:cNvSpPr/>
          <p:nvPr/>
        </p:nvSpPr>
        <p:spPr>
          <a:xfrm>
            <a:off x="9334500" y="5048250"/>
            <a:ext cx="1143000" cy="438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80" name="Group 80"/>
          <p:cNvGrpSpPr/>
          <p:nvPr/>
        </p:nvGrpSpPr>
        <p:grpSpPr>
          <a:xfrm>
            <a:off x="9423400" y="5178425"/>
            <a:ext cx="180000" cy="180975"/>
            <a:chOff x="9496425" y="5162550"/>
            <a:chExt cx="142875" cy="152400"/>
          </a:xfrm>
        </p:grpSpPr>
        <p:sp>
          <p:nvSpPr>
            <p:cNvPr id="74" name="Freeform 74"/>
            <p:cNvSpPr/>
            <p:nvPr/>
          </p:nvSpPr>
          <p:spPr>
            <a:xfrm>
              <a:off x="9496425" y="5276850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0" y="19050"/>
                  </a:moveTo>
                  <a:cubicBezTo>
                    <a:pt x="0" y="29571"/>
                    <a:pt x="8529" y="38100"/>
                    <a:pt x="19050" y="38100"/>
                  </a:cubicBezTo>
                  <a:cubicBezTo>
                    <a:pt x="29571" y="38100"/>
                    <a:pt x="38100" y="29571"/>
                    <a:pt x="38100" y="19050"/>
                  </a:cubicBezTo>
                  <a:cubicBezTo>
                    <a:pt x="38100" y="8529"/>
                    <a:pt x="29571" y="0"/>
                    <a:pt x="19050" y="0"/>
                  </a:cubicBezTo>
                  <a:cubicBezTo>
                    <a:pt x="8529" y="0"/>
                    <a:pt x="0" y="8529"/>
                    <a:pt x="0" y="19050"/>
                  </a:cubicBezTo>
                </a:path>
              </a:pathLst>
            </a:custGeom>
            <a:noFill/>
            <a:ln w="19050">
              <a:solidFill>
                <a:srgbClr val="F7F5F0"/>
              </a:solidFill>
            </a:ln>
          </p:spPr>
        </p:sp>
        <p:sp>
          <p:nvSpPr>
            <p:cNvPr id="75" name="Freeform 75"/>
            <p:cNvSpPr/>
            <p:nvPr/>
          </p:nvSpPr>
          <p:spPr>
            <a:xfrm>
              <a:off x="9496425" y="5162550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0" y="19050"/>
                  </a:moveTo>
                  <a:cubicBezTo>
                    <a:pt x="0" y="29571"/>
                    <a:pt x="8529" y="38100"/>
                    <a:pt x="19050" y="38100"/>
                  </a:cubicBezTo>
                  <a:cubicBezTo>
                    <a:pt x="29571" y="38100"/>
                    <a:pt x="38100" y="29571"/>
                    <a:pt x="38100" y="19050"/>
                  </a:cubicBezTo>
                  <a:cubicBezTo>
                    <a:pt x="38100" y="8529"/>
                    <a:pt x="29571" y="0"/>
                    <a:pt x="19050" y="0"/>
                  </a:cubicBezTo>
                  <a:cubicBezTo>
                    <a:pt x="8529" y="0"/>
                    <a:pt x="0" y="8529"/>
                    <a:pt x="0" y="19050"/>
                  </a:cubicBezTo>
                </a:path>
              </a:pathLst>
            </a:custGeom>
            <a:noFill/>
            <a:ln w="19050">
              <a:solidFill>
                <a:srgbClr val="F7F5F0"/>
              </a:solidFill>
            </a:ln>
          </p:spPr>
        </p:sp>
        <p:sp>
          <p:nvSpPr>
            <p:cNvPr id="76" name="Freeform 76"/>
            <p:cNvSpPr/>
            <p:nvPr/>
          </p:nvSpPr>
          <p:spPr>
            <a:xfrm>
              <a:off x="9591675" y="5162550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0" y="19050"/>
                  </a:moveTo>
                  <a:cubicBezTo>
                    <a:pt x="0" y="29571"/>
                    <a:pt x="8529" y="38100"/>
                    <a:pt x="19050" y="38100"/>
                  </a:cubicBezTo>
                  <a:cubicBezTo>
                    <a:pt x="29571" y="38100"/>
                    <a:pt x="38100" y="29571"/>
                    <a:pt x="38100" y="19050"/>
                  </a:cubicBezTo>
                  <a:cubicBezTo>
                    <a:pt x="38100" y="8529"/>
                    <a:pt x="29571" y="0"/>
                    <a:pt x="19050" y="0"/>
                  </a:cubicBezTo>
                  <a:cubicBezTo>
                    <a:pt x="8529" y="0"/>
                    <a:pt x="0" y="8529"/>
                    <a:pt x="0" y="19050"/>
                  </a:cubicBezTo>
                </a:path>
              </a:pathLst>
            </a:custGeom>
            <a:noFill/>
            <a:ln w="19050">
              <a:solidFill>
                <a:srgbClr val="F7F5F0"/>
              </a:solidFill>
            </a:ln>
          </p:spPr>
        </p:sp>
        <p:sp>
          <p:nvSpPr>
            <p:cNvPr id="77" name="Freeform 77"/>
            <p:cNvSpPr/>
            <p:nvPr/>
          </p:nvSpPr>
          <p:spPr>
            <a:xfrm>
              <a:off x="9515475" y="5200650"/>
              <a:ext cx="9525" cy="76200"/>
            </a:xfrm>
            <a:custGeom>
              <a:avLst/>
              <a:gdLst/>
              <a:ahLst/>
              <a:cxnLst/>
              <a:rect l="l" t="t" r="r" b="b"/>
              <a:pathLst>
                <a:path w="9525"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noFill/>
            <a:ln w="19050">
              <a:solidFill>
                <a:srgbClr val="F7F5F0"/>
              </a:solidFill>
            </a:ln>
          </p:spPr>
        </p:sp>
        <p:sp>
          <p:nvSpPr>
            <p:cNvPr id="78" name="Freeform 78"/>
            <p:cNvSpPr/>
            <p:nvPr/>
          </p:nvSpPr>
          <p:spPr>
            <a:xfrm>
              <a:off x="9534525" y="5229225"/>
              <a:ext cx="76200" cy="66675"/>
            </a:xfrm>
            <a:custGeom>
              <a:avLst/>
              <a:gdLst/>
              <a:ahLst/>
              <a:cxnLst/>
              <a:rect l="l" t="t" r="r" b="b"/>
              <a:pathLst>
                <a:path w="76200" h="66675">
                  <a:moveTo>
                    <a:pt x="0" y="66675"/>
                  </a:moveTo>
                  <a:lnTo>
                    <a:pt x="57150" y="66675"/>
                  </a:lnTo>
                  <a:cubicBezTo>
                    <a:pt x="67671" y="66675"/>
                    <a:pt x="76200" y="58146"/>
                    <a:pt x="76200" y="47625"/>
                  </a:cubicBezTo>
                  <a:lnTo>
                    <a:pt x="76200" y="0"/>
                  </a:lnTo>
                </a:path>
              </a:pathLst>
            </a:custGeom>
            <a:noFill/>
            <a:ln w="19050">
              <a:solidFill>
                <a:srgbClr val="F7F5F0"/>
              </a:solidFill>
            </a:ln>
          </p:spPr>
        </p:sp>
        <p:sp>
          <p:nvSpPr>
            <p:cNvPr id="79" name="Freeform 79"/>
            <p:cNvSpPr/>
            <p:nvPr/>
          </p:nvSpPr>
          <p:spPr>
            <a:xfrm>
              <a:off x="9582150" y="5229225"/>
              <a:ext cx="57150" cy="28575"/>
            </a:xfrm>
            <a:custGeom>
              <a:avLst/>
              <a:gdLst/>
              <a:ahLst/>
              <a:cxnLst/>
              <a:rect l="l" t="t" r="r" b="b"/>
              <a:pathLst>
                <a:path w="57150" h="28575">
                  <a:moveTo>
                    <a:pt x="0" y="28575"/>
                  </a:moveTo>
                  <a:lnTo>
                    <a:pt x="28575" y="0"/>
                  </a:lnTo>
                  <a:lnTo>
                    <a:pt x="57150" y="28575"/>
                  </a:lnTo>
                </a:path>
              </a:pathLst>
            </a:custGeom>
            <a:noFill/>
            <a:ln w="19050">
              <a:solidFill>
                <a:srgbClr val="F7F5F0"/>
              </a:solidFill>
            </a:ln>
          </p:spPr>
        </p:sp>
      </p:grpSp>
      <p:sp>
        <p:nvSpPr>
          <p:cNvPr id="81" name="TextBox 81"/>
          <p:cNvSpPr txBox="1"/>
          <p:nvPr/>
        </p:nvSpPr>
        <p:spPr>
          <a:xfrm>
            <a:off x="9671685" y="5174456"/>
            <a:ext cx="61452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F7F5F0"/>
                </a:solidFill>
                <a:latin typeface="+mn-lt"/>
                <a:ea typeface="+mn-ea"/>
                <a:cs typeface="+mn-cs"/>
              </a:rPr>
              <a:t>协作验证</a:t>
            </a:r>
            <a:endParaRPr lang="zh-CN" sz="1120" dirty="0">
              <a:solidFill>
                <a:srgbClr val="F7F5F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2" name="TextBox 82"/>
          <p:cNvSpPr txBox="1"/>
          <p:nvPr/>
        </p:nvSpPr>
        <p:spPr>
          <a:xfrm>
            <a:off x="6186297" y="5819299"/>
            <a:ext cx="45186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01 / 10</a:t>
            </a:r>
            <a:endParaRPr lang="zh-CN" sz="980" dirty="0">
              <a:solidFill>
                <a:schemeClr val="accent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83" name="Line 44"/>
          <p:cNvSpPr/>
          <p:nvPr/>
        </p:nvSpPr>
        <p:spPr>
          <a:xfrm flipV="1">
            <a:off x="7488555" y="3388360"/>
            <a:ext cx="2112645" cy="78740"/>
          </a:xfrm>
          <a:custGeom>
            <a:avLst/>
            <a:gdLst/>
            <a:ahLst/>
            <a:cxnLst/>
            <a:rect l="l" t="t" r="r" b="b"/>
            <a:pathLst>
              <a:path w="685800" h="9525">
                <a:moveTo>
                  <a:pt x="0" y="0"/>
                </a:moveTo>
                <a:lnTo>
                  <a:pt x="685800" y="0"/>
                </a:lnTo>
              </a:path>
            </a:pathLst>
          </a:custGeom>
          <a:noFill/>
          <a:ln w="28575">
            <a:solidFill>
              <a:schemeClr val="accent2"/>
            </a:solidFill>
          </a:ln>
        </p:spPr>
      </p:sp>
      <p:sp>
        <p:nvSpPr>
          <p:cNvPr id="84" name="Polygon 56"/>
          <p:cNvSpPr/>
          <p:nvPr/>
        </p:nvSpPr>
        <p:spPr>
          <a:xfrm>
            <a:off x="8474710" y="353123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0"/>
                </a:moveTo>
                <a:lnTo>
                  <a:pt x="95250" y="190500"/>
                </a:lnTo>
                <a:lnTo>
                  <a:pt x="19050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85" name="Line 55"/>
          <p:cNvSpPr/>
          <p:nvPr/>
        </p:nvSpPr>
        <p:spPr>
          <a:xfrm flipH="1">
            <a:off x="8474710" y="3467100"/>
            <a:ext cx="91440" cy="223520"/>
          </a:xfrm>
          <a:custGeom>
            <a:avLst/>
            <a:gdLst/>
            <a:ahLst/>
            <a:cxnLst/>
            <a:rect l="l" t="t" r="r" b="b"/>
            <a:pathLst>
              <a:path w="9525" h="400050">
                <a:moveTo>
                  <a:pt x="0" y="0"/>
                </a:moveTo>
                <a:lnTo>
                  <a:pt x="0" y="400050"/>
                </a:lnTo>
              </a:path>
            </a:pathLst>
          </a:custGeom>
          <a:noFill/>
          <a:ln w="28575">
            <a:solidFill>
              <a:schemeClr val="accent2"/>
            </a:solidFill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3504" y="556260"/>
            <a:ext cx="238902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spc="1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01 / EXECUTIVE READOUT</a:t>
            </a:r>
            <a:endParaRPr lang="zh-CN" sz="1200" spc="150" dirty="0">
              <a:solidFill>
                <a:schemeClr val="accent3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95122" y="949642"/>
            <a:ext cx="5668861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三类验证链路已取得阶段性结果</a:t>
            </a:r>
            <a:endParaRPr lang="zh-CN" sz="2850" b="1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01980" y="1476375"/>
            <a:ext cx="566928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底座能跑、能力可用、协作可复核；下一步转向受控业务接入。</a:t>
            </a:r>
            <a:endParaRPr lang="zh-CN" sz="150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Line 5"/>
          <p:cNvSpPr/>
          <p:nvPr/>
        </p:nvSpPr>
        <p:spPr>
          <a:xfrm>
            <a:off x="609600" y="19431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chemeClr val="accent1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609600" y="2457450"/>
            <a:ext cx="3276600" cy="2476500"/>
          </a:xfrm>
          <a:prstGeom prst="rect">
            <a:avLst/>
          </a:prstGeom>
          <a:solidFill>
            <a:schemeClr val="lt2"/>
          </a:solidFill>
          <a:ln w="9525">
            <a:solidFill>
              <a:schemeClr val="accent1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09600" y="2457450"/>
            <a:ext cx="3276600" cy="952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69823" y="2872264"/>
            <a:ext cx="105073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A / 部署底座</a:t>
            </a:r>
            <a:endParaRPr lang="zh-CN" sz="1280" dirty="0">
              <a:solidFill>
                <a:schemeClr val="accent3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57250" y="3245168"/>
            <a:ext cx="1882731" cy="8477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可复制</a:t>
            </a:r>
            <a:endParaRPr lang="zh-CN" sz="4350" b="1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68680" y="4067175"/>
            <a:ext cx="14287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混合环境已跑通</a:t>
            </a:r>
            <a:endParaRPr lang="zh-CN" sz="150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870585" y="4450556"/>
            <a:ext cx="165672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Server / PC / Gateway</a:t>
            </a:r>
            <a:endParaRPr lang="zh-CN" sz="1120" dirty="0">
              <a:solidFill>
                <a:schemeClr val="accent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2" name="Rectangle 12"/>
          <p:cNvSpPr/>
          <p:nvPr/>
        </p:nvSpPr>
        <p:spPr>
          <a:xfrm>
            <a:off x="4457700" y="2457450"/>
            <a:ext cx="3276600" cy="2476500"/>
          </a:xfrm>
          <a:prstGeom prst="rect">
            <a:avLst/>
          </a:prstGeom>
          <a:solidFill>
            <a:schemeClr val="lt2"/>
          </a:solidFill>
          <a:ln w="9525">
            <a:solidFill>
              <a:schemeClr val="accent1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4457700" y="2457450"/>
            <a:ext cx="3276600" cy="952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717923" y="2872264"/>
            <a:ext cx="128344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B / Skill 与 Tool</a:t>
            </a:r>
            <a:endParaRPr lang="zh-CN" sz="1280" dirty="0">
              <a:solidFill>
                <a:schemeClr val="accent3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4705350" y="3245168"/>
            <a:ext cx="1882731" cy="8477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可调用</a:t>
            </a:r>
            <a:endParaRPr lang="zh-CN" sz="4350" b="1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4716780" y="4067175"/>
            <a:ext cx="20345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识别、执行与回传闭环</a:t>
            </a:r>
            <a:endParaRPr lang="zh-CN" sz="150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4718685" y="4450556"/>
            <a:ext cx="165487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86 installed / 45 ready</a:t>
            </a:r>
            <a:endParaRPr lang="zh-CN" sz="1120" dirty="0">
              <a:solidFill>
                <a:schemeClr val="accent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8" name="Rectangle 18"/>
          <p:cNvSpPr/>
          <p:nvPr/>
        </p:nvSpPr>
        <p:spPr>
          <a:xfrm>
            <a:off x="8305800" y="2457450"/>
            <a:ext cx="3276600" cy="24765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8305800" y="2457450"/>
            <a:ext cx="3276600" cy="952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566023" y="2872264"/>
            <a:ext cx="141487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E9E6DF"/>
                </a:solidFill>
                <a:latin typeface="+mn-lt"/>
                <a:ea typeface="+mn-ea"/>
                <a:cs typeface="+mn-cs"/>
              </a:rPr>
              <a:t>C / 多智能体协作</a:t>
            </a:r>
            <a:endParaRPr lang="zh-CN" sz="1280" dirty="0">
              <a:solidFill>
                <a:srgbClr val="E9E6D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8553450" y="3245168"/>
            <a:ext cx="1882731" cy="8477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350" b="1" dirty="0">
                <a:solidFill>
                  <a:srgbClr val="F7F5F0"/>
                </a:solidFill>
                <a:latin typeface="+mn-lt"/>
                <a:ea typeface="+mn-ea"/>
                <a:cs typeface="+mn-cs"/>
              </a:rPr>
              <a:t>可复核</a:t>
            </a:r>
            <a:endParaRPr lang="zh-CN" sz="4350" b="1" dirty="0">
              <a:solidFill>
                <a:srgbClr val="F7F5F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8564880" y="4067175"/>
            <a:ext cx="288931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E9E6DF"/>
                </a:solidFill>
                <a:latin typeface="+mn-lt"/>
                <a:ea typeface="+mn-ea"/>
                <a:cs typeface="+mn-cs"/>
              </a:rPr>
              <a:t>子代理与 Hermes 均有结果回传</a:t>
            </a:r>
            <a:endParaRPr lang="zh-CN" sz="1500" dirty="0">
              <a:solidFill>
                <a:srgbClr val="E9E6D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8566785" y="4450556"/>
            <a:ext cx="181318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A8A29E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status / output / run_id</a:t>
            </a:r>
            <a:endParaRPr lang="zh-CN" sz="1120" dirty="0">
              <a:solidFill>
                <a:srgbClr val="A8A29E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601218" y="5613082"/>
            <a:ext cx="71645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判断：</a:t>
            </a:r>
            <a:endParaRPr lang="zh-CN" sz="1650" b="1" dirty="0">
              <a:solidFill>
                <a:schemeClr val="accent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344168" y="5613082"/>
            <a:ext cx="539214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工程验证已经越过“能不能跑”，进入“如何安全交付”。</a:t>
            </a:r>
            <a:endParaRPr lang="zh-CN" sz="165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604647" y="6200299"/>
            <a:ext cx="45186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02 / 10</a:t>
            </a:r>
            <a:endParaRPr lang="zh-CN" sz="980" dirty="0">
              <a:solidFill>
                <a:schemeClr val="accent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3504" y="556260"/>
            <a:ext cx="223540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spc="1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02 / DEPLOYMENT BASE</a:t>
            </a:r>
            <a:endParaRPr lang="zh-CN" sz="1200" spc="150" dirty="0">
              <a:solidFill>
                <a:schemeClr val="accent3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95122" y="949642"/>
            <a:ext cx="6071711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混合部署让能力验证贴近真实工程</a:t>
            </a:r>
            <a:endParaRPr lang="zh-CN" sz="2850" b="1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01980" y="1476375"/>
            <a:ext cx="503306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服务侧与设备侧分工，统一收敛到一个 Gateway 入口。</a:t>
            </a:r>
            <a:endParaRPr lang="zh-CN" sz="150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Line 5"/>
          <p:cNvSpPr/>
          <p:nvPr/>
        </p:nvSpPr>
        <p:spPr>
          <a:xfrm>
            <a:off x="609600" y="19431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chemeClr val="accent1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609600" y="2419350"/>
            <a:ext cx="3200400" cy="2724150"/>
          </a:xfrm>
          <a:prstGeom prst="rect">
            <a:avLst/>
          </a:prstGeom>
          <a:solidFill>
            <a:schemeClr val="lt2"/>
          </a:solidFill>
          <a:ln w="9525">
            <a:solidFill>
              <a:schemeClr val="accent1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69442" y="2711768"/>
            <a:ext cx="189569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服务侧 / Linux Server</a:t>
            </a:r>
            <a:endParaRPr lang="zh-CN" sz="1350" dirty="0">
              <a:solidFill>
                <a:schemeClr val="accent3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926306" y="3305175"/>
            <a:ext cx="300038" cy="266700"/>
            <a:chOff x="926306" y="3305175"/>
            <a:chExt cx="300038" cy="266700"/>
          </a:xfrm>
        </p:grpSpPr>
        <p:sp>
          <p:nvSpPr>
            <p:cNvPr id="8" name="Freeform 8"/>
            <p:cNvSpPr/>
            <p:nvPr/>
          </p:nvSpPr>
          <p:spPr>
            <a:xfrm>
              <a:off x="926306" y="3305175"/>
              <a:ext cx="300038" cy="133350"/>
            </a:xfrm>
            <a:custGeom>
              <a:avLst/>
              <a:gdLst/>
              <a:ahLst/>
              <a:cxnLst/>
              <a:rect l="l" t="t" r="r" b="b"/>
              <a:pathLst>
                <a:path w="300038" h="133350">
                  <a:moveTo>
                    <a:pt x="0" y="50006"/>
                  </a:moveTo>
                  <a:cubicBezTo>
                    <a:pt x="0" y="22389"/>
                    <a:pt x="22389" y="0"/>
                    <a:pt x="50006" y="0"/>
                  </a:cubicBezTo>
                  <a:lnTo>
                    <a:pt x="250031" y="0"/>
                  </a:lnTo>
                  <a:cubicBezTo>
                    <a:pt x="277649" y="0"/>
                    <a:pt x="300038" y="22389"/>
                    <a:pt x="300038" y="50006"/>
                  </a:cubicBezTo>
                  <a:lnTo>
                    <a:pt x="300038" y="83344"/>
                  </a:lnTo>
                  <a:cubicBezTo>
                    <a:pt x="300038" y="110961"/>
                    <a:pt x="277649" y="133350"/>
                    <a:pt x="250031" y="133350"/>
                  </a:cubicBezTo>
                  <a:lnTo>
                    <a:pt x="50006" y="133350"/>
                  </a:lnTo>
                  <a:cubicBezTo>
                    <a:pt x="22389" y="133350"/>
                    <a:pt x="0" y="110961"/>
                    <a:pt x="0" y="83344"/>
                  </a:cubicBezTo>
                  <a:lnTo>
                    <a:pt x="0" y="50006"/>
                  </a:lnTo>
                </a:path>
              </a:pathLst>
            </a:custGeom>
            <a:noFill/>
            <a:ln w="33338">
              <a:solidFill>
                <a:schemeClr val="accent1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926306" y="3438525"/>
              <a:ext cx="300038" cy="133350"/>
            </a:xfrm>
            <a:custGeom>
              <a:avLst/>
              <a:gdLst/>
              <a:ahLst/>
              <a:cxnLst/>
              <a:rect l="l" t="t" r="r" b="b"/>
              <a:pathLst>
                <a:path w="300038" h="133350">
                  <a:moveTo>
                    <a:pt x="0" y="50006"/>
                  </a:moveTo>
                  <a:cubicBezTo>
                    <a:pt x="0" y="22389"/>
                    <a:pt x="22389" y="0"/>
                    <a:pt x="50006" y="0"/>
                  </a:cubicBezTo>
                  <a:lnTo>
                    <a:pt x="250031" y="0"/>
                  </a:lnTo>
                  <a:cubicBezTo>
                    <a:pt x="277649" y="0"/>
                    <a:pt x="300038" y="22389"/>
                    <a:pt x="300038" y="50006"/>
                  </a:cubicBezTo>
                  <a:lnTo>
                    <a:pt x="300038" y="83344"/>
                  </a:lnTo>
                  <a:cubicBezTo>
                    <a:pt x="300038" y="110961"/>
                    <a:pt x="277649" y="133350"/>
                    <a:pt x="250031" y="133350"/>
                  </a:cubicBezTo>
                  <a:lnTo>
                    <a:pt x="50006" y="133350"/>
                  </a:lnTo>
                  <a:cubicBezTo>
                    <a:pt x="22389" y="133350"/>
                    <a:pt x="0" y="110961"/>
                    <a:pt x="0" y="83344"/>
                  </a:cubicBezTo>
                  <a:lnTo>
                    <a:pt x="0" y="50006"/>
                  </a:lnTo>
                </a:path>
              </a:pathLst>
            </a:custGeom>
            <a:noFill/>
            <a:ln w="33338">
              <a:solidFill>
                <a:schemeClr val="accent1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992981" y="3371850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167"/>
                  </a:lnTo>
                </a:path>
              </a:pathLst>
            </a:custGeom>
            <a:noFill/>
            <a:ln w="33338">
              <a:solidFill>
                <a:schemeClr val="accent1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992981" y="3505200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167"/>
                  </a:lnTo>
                </a:path>
              </a:pathLst>
            </a:custGeom>
            <a:noFill/>
            <a:ln w="33338">
              <a:solidFill>
                <a:schemeClr val="accent1"/>
              </a:solidFill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865632" y="3830955"/>
            <a:ext cx="120868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稳定运行</a:t>
            </a:r>
            <a:endParaRPr lang="zh-CN" sz="2100" b="1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869442" y="4311968"/>
            <a:ext cx="128993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Docker / WSL2</a:t>
            </a:r>
            <a:endParaRPr lang="zh-CN" sz="135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70204" y="4652010"/>
            <a:ext cx="202608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模型、Gateway、Skill 注册</a:t>
            </a:r>
            <a:endParaRPr lang="zh-CN" sz="1200" dirty="0">
              <a:solidFill>
                <a:schemeClr val="accent3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Rectangle 16"/>
          <p:cNvSpPr/>
          <p:nvPr/>
        </p:nvSpPr>
        <p:spPr>
          <a:xfrm>
            <a:off x="4495800" y="2419350"/>
            <a:ext cx="3200400" cy="2724150"/>
          </a:xfrm>
          <a:prstGeom prst="rect">
            <a:avLst/>
          </a:prstGeom>
          <a:solidFill>
            <a:schemeClr val="lt2"/>
          </a:solidFill>
          <a:ln w="9525">
            <a:solidFill>
              <a:schemeClr val="accent1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4755642" y="2711768"/>
            <a:ext cx="178205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设备侧 / Windows PC</a:t>
            </a:r>
            <a:endParaRPr lang="zh-CN" sz="1350" dirty="0">
              <a:solidFill>
                <a:schemeClr val="accent3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29" name="Group 29"/>
          <p:cNvGrpSpPr/>
          <p:nvPr/>
        </p:nvGrpSpPr>
        <p:grpSpPr>
          <a:xfrm>
            <a:off x="4812506" y="3305175"/>
            <a:ext cx="300587" cy="291703"/>
            <a:chOff x="4812506" y="3305175"/>
            <a:chExt cx="300587" cy="291703"/>
          </a:xfrm>
        </p:grpSpPr>
        <p:sp>
          <p:nvSpPr>
            <p:cNvPr id="18" name="Freeform 18"/>
            <p:cNvSpPr/>
            <p:nvPr/>
          </p:nvSpPr>
          <p:spPr>
            <a:xfrm>
              <a:off x="4812506" y="3305175"/>
              <a:ext cx="300038" cy="133350"/>
            </a:xfrm>
            <a:custGeom>
              <a:avLst/>
              <a:gdLst/>
              <a:ahLst/>
              <a:cxnLst/>
              <a:rect l="l" t="t" r="r" b="b"/>
              <a:pathLst>
                <a:path w="300038" h="133350">
                  <a:moveTo>
                    <a:pt x="0" y="50006"/>
                  </a:moveTo>
                  <a:cubicBezTo>
                    <a:pt x="0" y="22389"/>
                    <a:pt x="22389" y="0"/>
                    <a:pt x="50006" y="0"/>
                  </a:cubicBezTo>
                  <a:lnTo>
                    <a:pt x="250031" y="0"/>
                  </a:lnTo>
                  <a:cubicBezTo>
                    <a:pt x="277649" y="0"/>
                    <a:pt x="300038" y="22389"/>
                    <a:pt x="300038" y="50006"/>
                  </a:cubicBezTo>
                  <a:lnTo>
                    <a:pt x="300038" y="83344"/>
                  </a:lnTo>
                  <a:cubicBezTo>
                    <a:pt x="300038" y="110961"/>
                    <a:pt x="277649" y="133350"/>
                    <a:pt x="250031" y="133350"/>
                  </a:cubicBezTo>
                  <a:lnTo>
                    <a:pt x="50006" y="133350"/>
                  </a:lnTo>
                  <a:cubicBezTo>
                    <a:pt x="22389" y="133350"/>
                    <a:pt x="0" y="110961"/>
                    <a:pt x="0" y="83344"/>
                  </a:cubicBezTo>
                  <a:lnTo>
                    <a:pt x="0" y="50006"/>
                  </a:lnTo>
                </a:path>
              </a:pathLst>
            </a:custGeom>
            <a:noFill/>
            <a:ln w="33338">
              <a:solidFill>
                <a:schemeClr val="accent1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4812506" y="3438525"/>
              <a:ext cx="225028" cy="133350"/>
            </a:xfrm>
            <a:custGeom>
              <a:avLst/>
              <a:gdLst/>
              <a:ahLst/>
              <a:cxnLst/>
              <a:rect l="l" t="t" r="r" b="b"/>
              <a:pathLst>
                <a:path w="225028" h="133350">
                  <a:moveTo>
                    <a:pt x="150019" y="133350"/>
                  </a:moveTo>
                  <a:lnTo>
                    <a:pt x="50006" y="133350"/>
                  </a:lnTo>
                  <a:cubicBezTo>
                    <a:pt x="22389" y="133350"/>
                    <a:pt x="0" y="110961"/>
                    <a:pt x="0" y="83344"/>
                  </a:cubicBezTo>
                  <a:lnTo>
                    <a:pt x="0" y="50006"/>
                  </a:lnTo>
                  <a:cubicBezTo>
                    <a:pt x="0" y="22389"/>
                    <a:pt x="22389" y="0"/>
                    <a:pt x="50006" y="0"/>
                  </a:cubicBezTo>
                  <a:lnTo>
                    <a:pt x="225028" y="0"/>
                  </a:lnTo>
                </a:path>
              </a:pathLst>
            </a:custGeom>
            <a:noFill/>
            <a:ln w="33338">
              <a:solidFill>
                <a:schemeClr val="accent1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5029200" y="3505200"/>
              <a:ext cx="66675" cy="66675"/>
            </a:xfrm>
            <a:custGeom>
              <a:avLst/>
              <a:gdLst/>
              <a:ahLst/>
              <a:cxnLst/>
              <a:rect l="l" t="t" r="r" b="b"/>
              <a:pathLst>
                <a:path w="66675" h="66675">
                  <a:moveTo>
                    <a:pt x="0" y="33338"/>
                  </a:moveTo>
                  <a:cubicBezTo>
                    <a:pt x="0" y="51749"/>
                    <a:pt x="14926" y="66675"/>
                    <a:pt x="33338" y="66675"/>
                  </a:cubicBezTo>
                  <a:cubicBezTo>
                    <a:pt x="51749" y="66675"/>
                    <a:pt x="66675" y="51749"/>
                    <a:pt x="66675" y="33338"/>
                  </a:cubicBezTo>
                  <a:cubicBezTo>
                    <a:pt x="66675" y="14926"/>
                    <a:pt x="51749" y="0"/>
                    <a:pt x="33338" y="0"/>
                  </a:cubicBezTo>
                  <a:cubicBezTo>
                    <a:pt x="14926" y="0"/>
                    <a:pt x="0" y="14926"/>
                    <a:pt x="0" y="33338"/>
                  </a:cubicBezTo>
                </a:path>
              </a:pathLst>
            </a:custGeom>
            <a:noFill/>
            <a:ln w="33338">
              <a:solidFill>
                <a:schemeClr val="accent1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5062538" y="3480197"/>
              <a:ext cx="9525" cy="25003"/>
            </a:xfrm>
            <a:custGeom>
              <a:avLst/>
              <a:gdLst/>
              <a:ahLst/>
              <a:cxnLst/>
              <a:rect l="l" t="t" r="r" b="b"/>
              <a:pathLst>
                <a:path w="9525" h="25003">
                  <a:moveTo>
                    <a:pt x="0" y="0"/>
                  </a:moveTo>
                  <a:lnTo>
                    <a:pt x="0" y="25003"/>
                  </a:lnTo>
                </a:path>
              </a:pathLst>
            </a:custGeom>
            <a:noFill/>
            <a:ln w="33338">
              <a:solidFill>
                <a:schemeClr val="accent1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5062538" y="3571875"/>
              <a:ext cx="9525" cy="25003"/>
            </a:xfrm>
            <a:custGeom>
              <a:avLst/>
              <a:gdLst/>
              <a:ahLst/>
              <a:cxnLst/>
              <a:rect l="l" t="t" r="r" b="b"/>
              <a:pathLst>
                <a:path w="9525" h="25003">
                  <a:moveTo>
                    <a:pt x="0" y="0"/>
                  </a:moveTo>
                  <a:lnTo>
                    <a:pt x="0" y="25003"/>
                  </a:lnTo>
                </a:path>
              </a:pathLst>
            </a:custGeom>
            <a:noFill/>
            <a:ln w="33338">
              <a:solidFill>
                <a:schemeClr val="accent1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5091424" y="3509367"/>
              <a:ext cx="21653" cy="12502"/>
            </a:xfrm>
            <a:custGeom>
              <a:avLst/>
              <a:gdLst/>
              <a:ahLst/>
              <a:cxnLst/>
              <a:rect l="l" t="t" r="r" b="b"/>
              <a:pathLst>
                <a:path w="21653" h="12502">
                  <a:moveTo>
                    <a:pt x="21653" y="0"/>
                  </a:moveTo>
                  <a:lnTo>
                    <a:pt x="0" y="12502"/>
                  </a:lnTo>
                </a:path>
              </a:pathLst>
            </a:custGeom>
            <a:noFill/>
            <a:ln w="33338">
              <a:solidFill>
                <a:schemeClr val="accent1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5012031" y="3555206"/>
              <a:ext cx="21669" cy="12502"/>
            </a:xfrm>
            <a:custGeom>
              <a:avLst/>
              <a:gdLst/>
              <a:ahLst/>
              <a:cxnLst/>
              <a:rect l="l" t="t" r="r" b="b"/>
              <a:pathLst>
                <a:path w="21669" h="12502">
                  <a:moveTo>
                    <a:pt x="21669" y="0"/>
                  </a:moveTo>
                  <a:lnTo>
                    <a:pt x="0" y="12502"/>
                  </a:lnTo>
                </a:path>
              </a:pathLst>
            </a:custGeom>
            <a:noFill/>
            <a:ln w="33338">
              <a:solidFill>
                <a:schemeClr val="accent1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5012031" y="3509367"/>
              <a:ext cx="21669" cy="12502"/>
            </a:xfrm>
            <a:custGeom>
              <a:avLst/>
              <a:gdLst/>
              <a:ahLst/>
              <a:cxnLst/>
              <a:rect l="l" t="t" r="r" b="b"/>
              <a:pathLst>
                <a:path w="21669" h="12502">
                  <a:moveTo>
                    <a:pt x="0" y="0"/>
                  </a:moveTo>
                  <a:lnTo>
                    <a:pt x="21669" y="12502"/>
                  </a:lnTo>
                </a:path>
              </a:pathLst>
            </a:custGeom>
            <a:noFill/>
            <a:ln w="33338">
              <a:solidFill>
                <a:schemeClr val="accent1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5091424" y="3555206"/>
              <a:ext cx="21669" cy="12502"/>
            </a:xfrm>
            <a:custGeom>
              <a:avLst/>
              <a:gdLst/>
              <a:ahLst/>
              <a:cxnLst/>
              <a:rect l="l" t="t" r="r" b="b"/>
              <a:pathLst>
                <a:path w="21669" h="12502">
                  <a:moveTo>
                    <a:pt x="0" y="0"/>
                  </a:moveTo>
                  <a:lnTo>
                    <a:pt x="21669" y="12502"/>
                  </a:lnTo>
                </a:path>
              </a:pathLst>
            </a:custGeom>
            <a:noFill/>
            <a:ln w="33338">
              <a:solidFill>
                <a:schemeClr val="accent1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4879181" y="3371850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167"/>
                  </a:lnTo>
                </a:path>
              </a:pathLst>
            </a:custGeom>
            <a:noFill/>
            <a:ln w="33338">
              <a:solidFill>
                <a:schemeClr val="accent1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4879181" y="3505200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167"/>
                  </a:lnTo>
                </a:path>
              </a:pathLst>
            </a:custGeom>
            <a:noFill/>
            <a:ln w="33338">
              <a:solidFill>
                <a:schemeClr val="accent1"/>
              </a:solidFill>
            </a:ln>
          </p:spPr>
        </p:sp>
      </p:grpSp>
      <p:sp>
        <p:nvSpPr>
          <p:cNvPr id="30" name="TextBox 30"/>
          <p:cNvSpPr txBox="1"/>
          <p:nvPr/>
        </p:nvSpPr>
        <p:spPr>
          <a:xfrm>
            <a:off x="4751832" y="3830955"/>
            <a:ext cx="120868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接入现实</a:t>
            </a:r>
            <a:endParaRPr lang="zh-CN" sz="2100" b="1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4755642" y="4311968"/>
            <a:ext cx="105704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USB / Serial</a:t>
            </a:r>
            <a:endParaRPr lang="zh-CN" sz="135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4756404" y="4652010"/>
            <a:ext cx="21122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本地浏览器、外设、人工操作</a:t>
            </a:r>
            <a:endParaRPr lang="zh-CN" sz="1200" dirty="0">
              <a:solidFill>
                <a:schemeClr val="accent3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3" name="Rectangle 33"/>
          <p:cNvSpPr/>
          <p:nvPr/>
        </p:nvSpPr>
        <p:spPr>
          <a:xfrm>
            <a:off x="8382000" y="2419350"/>
            <a:ext cx="3200400" cy="27241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8641842" y="2711768"/>
            <a:ext cx="169921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9E6DF"/>
                </a:solidFill>
                <a:latin typeface="+mn-lt"/>
                <a:ea typeface="+mn-ea"/>
                <a:cs typeface="+mn-cs"/>
              </a:rPr>
              <a:t>共同边界 / Gateway</a:t>
            </a:r>
            <a:endParaRPr lang="zh-CN" sz="1350" dirty="0">
              <a:solidFill>
                <a:srgbClr val="E9E6DF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40" name="Group 40"/>
          <p:cNvGrpSpPr/>
          <p:nvPr/>
        </p:nvGrpSpPr>
        <p:grpSpPr>
          <a:xfrm>
            <a:off x="8682038" y="3283339"/>
            <a:ext cx="333375" cy="321874"/>
            <a:chOff x="8682038" y="3283339"/>
            <a:chExt cx="333375" cy="321874"/>
          </a:xfrm>
        </p:grpSpPr>
        <p:sp>
          <p:nvSpPr>
            <p:cNvPr id="35" name="Freeform 35"/>
            <p:cNvSpPr/>
            <p:nvPr/>
          </p:nvSpPr>
          <p:spPr>
            <a:xfrm>
              <a:off x="8698706" y="3571875"/>
              <a:ext cx="116681" cy="9525"/>
            </a:xfrm>
            <a:custGeom>
              <a:avLst/>
              <a:gdLst/>
              <a:ahLst/>
              <a:cxnLst/>
              <a:rect l="l" t="t" r="r" b="b"/>
              <a:pathLst>
                <a:path w="116681" h="9525">
                  <a:moveTo>
                    <a:pt x="0" y="0"/>
                  </a:moveTo>
                  <a:lnTo>
                    <a:pt x="116681" y="0"/>
                  </a:lnTo>
                </a:path>
              </a:pathLst>
            </a:custGeom>
            <a:noFill/>
            <a:ln w="33338">
              <a:solidFill>
                <a:schemeClr val="accent2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8882062" y="3571875"/>
              <a:ext cx="116681" cy="9525"/>
            </a:xfrm>
            <a:custGeom>
              <a:avLst/>
              <a:gdLst/>
              <a:ahLst/>
              <a:cxnLst/>
              <a:rect l="l" t="t" r="r" b="b"/>
              <a:pathLst>
                <a:path w="116681" h="9525">
                  <a:moveTo>
                    <a:pt x="0" y="0"/>
                  </a:moveTo>
                  <a:lnTo>
                    <a:pt x="116681" y="0"/>
                  </a:lnTo>
                </a:path>
              </a:pathLst>
            </a:custGeom>
            <a:noFill/>
            <a:ln w="33338">
              <a:solidFill>
                <a:schemeClr val="accent2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8815388" y="3538538"/>
              <a:ext cx="66675" cy="66675"/>
            </a:xfrm>
            <a:custGeom>
              <a:avLst/>
              <a:gdLst/>
              <a:ahLst/>
              <a:cxnLst/>
              <a:rect l="l" t="t" r="r" b="b"/>
              <a:pathLst>
                <a:path w="66675" h="66675">
                  <a:moveTo>
                    <a:pt x="0" y="33338"/>
                  </a:moveTo>
                  <a:cubicBezTo>
                    <a:pt x="0" y="51749"/>
                    <a:pt x="14926" y="66675"/>
                    <a:pt x="33338" y="66675"/>
                  </a:cubicBezTo>
                  <a:cubicBezTo>
                    <a:pt x="51749" y="66675"/>
                    <a:pt x="66675" y="51749"/>
                    <a:pt x="66675" y="33338"/>
                  </a:cubicBezTo>
                  <a:cubicBezTo>
                    <a:pt x="66675" y="14926"/>
                    <a:pt x="51749" y="0"/>
                    <a:pt x="33338" y="0"/>
                  </a:cubicBezTo>
                  <a:cubicBezTo>
                    <a:pt x="14926" y="0"/>
                    <a:pt x="0" y="14926"/>
                    <a:pt x="0" y="33338"/>
                  </a:cubicBezTo>
                </a:path>
              </a:pathLst>
            </a:custGeom>
            <a:noFill/>
            <a:ln w="33338">
              <a:solidFill>
                <a:schemeClr val="accent2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8848725" y="3505200"/>
              <a:ext cx="9525" cy="33338"/>
            </a:xfrm>
            <a:custGeom>
              <a:avLst/>
              <a:gdLst/>
              <a:ahLst/>
              <a:cxnLst/>
              <a:rect l="l" t="t" r="r" b="b"/>
              <a:pathLst>
                <a:path w="9525" h="33338">
                  <a:moveTo>
                    <a:pt x="0" y="0"/>
                  </a:moveTo>
                  <a:lnTo>
                    <a:pt x="0" y="33338"/>
                  </a:lnTo>
                </a:path>
              </a:pathLst>
            </a:custGeom>
            <a:noFill/>
            <a:ln w="33338">
              <a:solidFill>
                <a:schemeClr val="accent2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8682038" y="3283339"/>
              <a:ext cx="333375" cy="221928"/>
            </a:xfrm>
            <a:custGeom>
              <a:avLst/>
              <a:gdLst/>
              <a:ahLst/>
              <a:cxnLst/>
              <a:rect l="l" t="t" r="r" b="b"/>
              <a:pathLst>
                <a:path w="333375" h="221928">
                  <a:moveTo>
                    <a:pt x="100012" y="221928"/>
                  </a:moveTo>
                  <a:lnTo>
                    <a:pt x="77626" y="221928"/>
                  </a:lnTo>
                  <a:cubicBezTo>
                    <a:pt x="34754" y="221861"/>
                    <a:pt x="0" y="188407"/>
                    <a:pt x="0" y="147135"/>
                  </a:cubicBezTo>
                  <a:cubicBezTo>
                    <a:pt x="0" y="105880"/>
                    <a:pt x="34754" y="72426"/>
                    <a:pt x="77626" y="72426"/>
                  </a:cubicBezTo>
                  <a:cubicBezTo>
                    <a:pt x="84177" y="43055"/>
                    <a:pt x="107530" y="19086"/>
                    <a:pt x="138884" y="9535"/>
                  </a:cubicBezTo>
                  <a:cubicBezTo>
                    <a:pt x="170221" y="0"/>
                    <a:pt x="204826" y="6317"/>
                    <a:pt x="229629" y="26203"/>
                  </a:cubicBezTo>
                  <a:cubicBezTo>
                    <a:pt x="254432" y="46039"/>
                    <a:pt x="265667" y="76326"/>
                    <a:pt x="259132" y="105697"/>
                  </a:cubicBezTo>
                  <a:lnTo>
                    <a:pt x="275634" y="105697"/>
                  </a:lnTo>
                  <a:cubicBezTo>
                    <a:pt x="307522" y="105697"/>
                    <a:pt x="333375" y="131700"/>
                    <a:pt x="333375" y="163804"/>
                  </a:cubicBezTo>
                  <a:cubicBezTo>
                    <a:pt x="333375" y="195924"/>
                    <a:pt x="307522" y="221928"/>
                    <a:pt x="275618" y="221928"/>
                  </a:cubicBezTo>
                  <a:lnTo>
                    <a:pt x="233362" y="221928"/>
                  </a:lnTo>
                </a:path>
              </a:pathLst>
            </a:custGeom>
            <a:noFill/>
            <a:ln w="33338">
              <a:solidFill>
                <a:schemeClr val="accent2"/>
              </a:solidFill>
            </a:ln>
          </p:spPr>
        </p:sp>
      </p:grpSp>
      <p:sp>
        <p:nvSpPr>
          <p:cNvPr id="41" name="TextBox 41"/>
          <p:cNvSpPr txBox="1"/>
          <p:nvPr/>
        </p:nvSpPr>
        <p:spPr>
          <a:xfrm>
            <a:off x="8638032" y="3830955"/>
            <a:ext cx="120868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7F5F0"/>
                </a:solidFill>
                <a:latin typeface="+mn-lt"/>
                <a:ea typeface="+mn-ea"/>
                <a:cs typeface="+mn-cs"/>
              </a:rPr>
              <a:t>统一入口</a:t>
            </a:r>
            <a:endParaRPr lang="zh-CN" sz="2100" b="1" dirty="0">
              <a:solidFill>
                <a:srgbClr val="F7F5F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8642223" y="4320064"/>
            <a:ext cx="194286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E9E6D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ws://127.0.0.1:18789</a:t>
            </a:r>
            <a:endParaRPr lang="zh-CN" sz="1280" dirty="0">
              <a:solidFill>
                <a:srgbClr val="E9E6D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8642604" y="4652010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8A29E"/>
                </a:solidFill>
                <a:latin typeface="+mn-lt"/>
                <a:ea typeface="+mn-ea"/>
                <a:cs typeface="+mn-cs"/>
              </a:rPr>
              <a:t>状态、身份、通道可观测</a:t>
            </a:r>
            <a:endParaRPr lang="zh-CN" sz="1200" dirty="0">
              <a:solidFill>
                <a:srgbClr val="A8A29E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4" name="Line 44"/>
          <p:cNvSpPr/>
          <p:nvPr/>
        </p:nvSpPr>
        <p:spPr>
          <a:xfrm>
            <a:off x="3810000" y="3790950"/>
            <a:ext cx="685800" cy="9525"/>
          </a:xfrm>
          <a:custGeom>
            <a:avLst/>
            <a:gdLst/>
            <a:ahLst/>
            <a:cxnLst/>
            <a:rect l="l" t="t" r="r" b="b"/>
            <a:pathLst>
              <a:path w="685800" h="9525">
                <a:moveTo>
                  <a:pt x="0" y="0"/>
                </a:moveTo>
                <a:lnTo>
                  <a:pt x="685800" y="0"/>
                </a:lnTo>
              </a:path>
            </a:pathLst>
          </a:custGeom>
          <a:noFill/>
          <a:ln w="28575">
            <a:solidFill>
              <a:schemeClr val="accent2"/>
            </a:solidFill>
          </a:ln>
        </p:spPr>
      </p:sp>
      <p:sp>
        <p:nvSpPr>
          <p:cNvPr id="45" name="Polygon 45"/>
          <p:cNvSpPr/>
          <p:nvPr/>
        </p:nvSpPr>
        <p:spPr>
          <a:xfrm>
            <a:off x="4400550" y="36957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0"/>
                </a:moveTo>
                <a:lnTo>
                  <a:pt x="190500" y="95250"/>
                </a:lnTo>
                <a:lnTo>
                  <a:pt x="0" y="1905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6" name="Line 46"/>
          <p:cNvSpPr/>
          <p:nvPr/>
        </p:nvSpPr>
        <p:spPr>
          <a:xfrm>
            <a:off x="7696200" y="3790950"/>
            <a:ext cx="685800" cy="9525"/>
          </a:xfrm>
          <a:custGeom>
            <a:avLst/>
            <a:gdLst/>
            <a:ahLst/>
            <a:cxnLst/>
            <a:rect l="l" t="t" r="r" b="b"/>
            <a:pathLst>
              <a:path w="685800" h="9525">
                <a:moveTo>
                  <a:pt x="0" y="0"/>
                </a:moveTo>
                <a:lnTo>
                  <a:pt x="685800" y="0"/>
                </a:lnTo>
              </a:path>
            </a:pathLst>
          </a:custGeom>
          <a:noFill/>
          <a:ln w="28575">
            <a:solidFill>
              <a:schemeClr val="accent2"/>
            </a:solidFill>
          </a:ln>
        </p:spPr>
      </p:sp>
      <p:sp>
        <p:nvSpPr>
          <p:cNvPr id="47" name="Polygon 47"/>
          <p:cNvSpPr/>
          <p:nvPr/>
        </p:nvSpPr>
        <p:spPr>
          <a:xfrm>
            <a:off x="8286750" y="36957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0"/>
                </a:moveTo>
                <a:lnTo>
                  <a:pt x="190500" y="95250"/>
                </a:lnTo>
                <a:lnTo>
                  <a:pt x="0" y="1905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601599" y="5754529"/>
            <a:ext cx="6205560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部署策略不是“堆组件”，而是把不确定性收敛到可控的连接边界。</a:t>
            </a:r>
            <a:endParaRPr lang="zh-CN" sz="158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604647" y="6200299"/>
            <a:ext cx="45186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03 / 10</a:t>
            </a:r>
            <a:endParaRPr lang="zh-CN" sz="980" dirty="0">
              <a:solidFill>
                <a:schemeClr val="accent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3504" y="556260"/>
            <a:ext cx="197083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spc="1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03 / GATEWAY CHECK</a:t>
            </a:r>
            <a:endParaRPr lang="zh-CN" sz="1200" spc="150" dirty="0">
              <a:solidFill>
                <a:schemeClr val="accent3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95122" y="949642"/>
            <a:ext cx="6877412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环境、服务、模型与访问形成验证闭环</a:t>
            </a:r>
            <a:endParaRPr lang="zh-CN" sz="2850" b="1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01980" y="1476375"/>
            <a:ext cx="44778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每一步都有可观察结果，截图只承担“证据”职责。</a:t>
            </a:r>
            <a:endParaRPr lang="zh-CN" sz="150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Line 5"/>
          <p:cNvSpPr/>
          <p:nvPr/>
        </p:nvSpPr>
        <p:spPr>
          <a:xfrm>
            <a:off x="609600" y="19431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chemeClr val="accent1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609600" y="2457450"/>
            <a:ext cx="4800600" cy="2838450"/>
          </a:xfrm>
          <a:prstGeom prst="rect">
            <a:avLst/>
          </a:prstGeom>
          <a:solidFill>
            <a:schemeClr val="lt2"/>
          </a:solidFill>
          <a:ln w="9525">
            <a:solidFill>
              <a:schemeClr val="accent1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07542" y="271176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四步验证路径</a:t>
            </a:r>
            <a:endParaRPr lang="zh-CN" sz="1350" dirty="0">
              <a:solidFill>
                <a:schemeClr val="accent3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Line 8"/>
          <p:cNvSpPr/>
          <p:nvPr/>
        </p:nvSpPr>
        <p:spPr>
          <a:xfrm>
            <a:off x="1200150" y="3352800"/>
            <a:ext cx="9525" cy="1447800"/>
          </a:xfrm>
          <a:custGeom>
            <a:avLst/>
            <a:gdLst/>
            <a:ahLst/>
            <a:cxnLst/>
            <a:rect l="l" t="t" r="r" b="b"/>
            <a:pathLst>
              <a:path w="9525" h="1447800">
                <a:moveTo>
                  <a:pt x="0" y="0"/>
                </a:moveTo>
                <a:lnTo>
                  <a:pt x="0" y="1447800"/>
                </a:lnTo>
              </a:path>
            </a:pathLst>
          </a:custGeom>
          <a:noFill/>
          <a:ln w="28575">
            <a:solidFill>
              <a:schemeClr val="accent2"/>
            </a:solidFill>
          </a:ln>
        </p:spPr>
      </p:sp>
      <p:sp>
        <p:nvSpPr>
          <p:cNvPr id="9" name="Ellipse 9"/>
          <p:cNvSpPr/>
          <p:nvPr/>
        </p:nvSpPr>
        <p:spPr>
          <a:xfrm>
            <a:off x="1085850" y="3238500"/>
            <a:ext cx="228600" cy="228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085850" y="3714750"/>
            <a:ext cx="228600" cy="228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1085850" y="4191000"/>
            <a:ext cx="228600" cy="228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1085850" y="4667250"/>
            <a:ext cx="228600" cy="228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554099" y="3258979"/>
            <a:ext cx="909340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环境启动</a:t>
            </a:r>
            <a:endParaRPr lang="zh-CN" sz="1580" b="1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554099" y="3735229"/>
            <a:ext cx="909340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服务健康</a:t>
            </a:r>
            <a:endParaRPr lang="zh-CN" sz="1580" b="1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554099" y="4211479"/>
            <a:ext cx="909340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模型可用</a:t>
            </a:r>
            <a:endParaRPr lang="zh-CN" sz="1580" b="1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554099" y="4687729"/>
            <a:ext cx="1670785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Gateway 可访问</a:t>
            </a:r>
            <a:endParaRPr lang="zh-CN" sz="1580" b="1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909066" y="4992052"/>
            <a:ext cx="20885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boot → health → model → access</a:t>
            </a:r>
            <a:endParaRPr lang="zh-CN" sz="1050" dirty="0">
              <a:solidFill>
                <a:schemeClr val="accent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8" name="Rectangle 18"/>
          <p:cNvSpPr/>
          <p:nvPr/>
        </p:nvSpPr>
        <p:spPr>
          <a:xfrm>
            <a:off x="5867400" y="2457450"/>
            <a:ext cx="5715000" cy="2838450"/>
          </a:xfrm>
          <a:prstGeom prst="rect">
            <a:avLst/>
          </a:prstGeom>
          <a:solidFill>
            <a:schemeClr val="lt2"/>
          </a:solidFill>
          <a:ln w="9525">
            <a:solidFill>
              <a:schemeClr val="accent1"/>
            </a:solidFill>
          </a:ln>
        </p:spPr>
      </p:sp>
      <p:pic>
        <p:nvPicPr>
          <p:cNvPr id="19" name="Image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0500" y="2647950"/>
            <a:ext cx="4368800" cy="2457450"/>
          </a:xfrm>
          <a:prstGeom prst="rect">
            <a:avLst/>
          </a:prstGeom>
        </p:spPr>
      </p:pic>
      <p:sp>
        <p:nvSpPr>
          <p:cNvPr id="20" name="Rectangle 20"/>
          <p:cNvSpPr/>
          <p:nvPr/>
        </p:nvSpPr>
        <p:spPr>
          <a:xfrm>
            <a:off x="6057900" y="2647950"/>
            <a:ext cx="5334000" cy="2457450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229350" y="4800600"/>
            <a:ext cx="1562100" cy="247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623812" y="4876324"/>
            <a:ext cx="774065" cy="1504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F7F5F0"/>
                </a:solidFill>
                <a:latin typeface="+mn-lt"/>
                <a:ea typeface="+mn-ea"/>
                <a:cs typeface="+mn-cs"/>
              </a:rPr>
              <a:t>Gateway 正常</a:t>
            </a:r>
            <a:endParaRPr lang="zh-CN" sz="980" dirty="0">
              <a:solidFill>
                <a:srgbClr val="F7F5F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601599" y="5735479"/>
            <a:ext cx="6226830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验证关键不在“看到界面”，而在“界面状态能否支持下一步动作”。</a:t>
            </a:r>
            <a:endParaRPr lang="zh-CN" sz="158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604647" y="6200299"/>
            <a:ext cx="45186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04 / 10</a:t>
            </a:r>
            <a:endParaRPr lang="zh-CN" sz="980" dirty="0">
              <a:solidFill>
                <a:schemeClr val="accent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3504" y="556260"/>
            <a:ext cx="203484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spc="1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04 / SKILL AND TOOL</a:t>
            </a:r>
            <a:endParaRPr lang="zh-CN" sz="1200" spc="150" dirty="0">
              <a:solidFill>
                <a:schemeClr val="accent3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95122" y="949642"/>
            <a:ext cx="4740405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Skill 可识别，Tool 可执行</a:t>
            </a:r>
            <a:endParaRPr lang="zh-CN" sz="2850" b="1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01980" y="1476375"/>
            <a:ext cx="38519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能力目录、启用状态与实际调用已经对齐。</a:t>
            </a:r>
            <a:endParaRPr lang="zh-CN" sz="150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Line 5"/>
          <p:cNvSpPr/>
          <p:nvPr/>
        </p:nvSpPr>
        <p:spPr>
          <a:xfrm>
            <a:off x="609600" y="19431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chemeClr val="accent1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609600" y="2457450"/>
            <a:ext cx="3086100" cy="2857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956383" y="2842333"/>
            <a:ext cx="330464" cy="330464"/>
          </a:xfrm>
          <a:custGeom>
            <a:avLst/>
            <a:gdLst/>
            <a:ahLst/>
            <a:cxnLst/>
            <a:rect l="l" t="t" r="r" b="b"/>
            <a:pathLst>
              <a:path w="330464" h="330464">
                <a:moveTo>
                  <a:pt x="80254" y="132642"/>
                </a:moveTo>
                <a:lnTo>
                  <a:pt x="132642" y="132642"/>
                </a:lnTo>
                <a:lnTo>
                  <a:pt x="132642" y="80254"/>
                </a:lnTo>
                <a:lnTo>
                  <a:pt x="71523" y="19136"/>
                </a:lnTo>
                <a:cubicBezTo>
                  <a:pt x="111590" y="0"/>
                  <a:pt x="159367" y="8197"/>
                  <a:pt x="190764" y="39594"/>
                </a:cubicBezTo>
                <a:cubicBezTo>
                  <a:pt x="222161" y="70991"/>
                  <a:pt x="230358" y="118769"/>
                  <a:pt x="211223" y="158835"/>
                </a:cubicBezTo>
                <a:lnTo>
                  <a:pt x="315998" y="263610"/>
                </a:lnTo>
                <a:cubicBezTo>
                  <a:pt x="330464" y="278077"/>
                  <a:pt x="330464" y="301531"/>
                  <a:pt x="315998" y="315998"/>
                </a:cubicBezTo>
                <a:cubicBezTo>
                  <a:pt x="301531" y="330464"/>
                  <a:pt x="278077" y="330464"/>
                  <a:pt x="263610" y="315998"/>
                </a:cubicBezTo>
                <a:lnTo>
                  <a:pt x="158835" y="211223"/>
                </a:lnTo>
                <a:cubicBezTo>
                  <a:pt x="118769" y="230358"/>
                  <a:pt x="70991" y="222161"/>
                  <a:pt x="39594" y="190764"/>
                </a:cubicBezTo>
                <a:cubicBezTo>
                  <a:pt x="8197" y="159367"/>
                  <a:pt x="0" y="111590"/>
                  <a:pt x="19136" y="71523"/>
                </a:cubicBezTo>
                <a:lnTo>
                  <a:pt x="80254" y="132642"/>
                </a:lnTo>
              </a:path>
            </a:pathLst>
          </a:custGeom>
          <a:noFill/>
          <a:ln w="34925">
            <a:solidFill>
              <a:schemeClr val="accent2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895350" y="3245168"/>
            <a:ext cx="714465" cy="8477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350" b="1" dirty="0">
                <a:solidFill>
                  <a:srgbClr val="F7F5F0"/>
                </a:solidFill>
                <a:latin typeface="+mn-lt"/>
                <a:ea typeface="+mn-ea"/>
                <a:cs typeface="+mn-cs"/>
              </a:rPr>
              <a:t>86</a:t>
            </a:r>
            <a:endParaRPr lang="zh-CN" sz="4350" b="1" dirty="0">
              <a:solidFill>
                <a:srgbClr val="F7F5F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06018" y="3917632"/>
            <a:ext cx="132844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E9E6DF"/>
                </a:solidFill>
                <a:latin typeface="+mn-lt"/>
                <a:ea typeface="+mn-ea"/>
                <a:cs typeface="+mn-cs"/>
              </a:rPr>
              <a:t>已安装 Skills</a:t>
            </a:r>
            <a:endParaRPr lang="zh-CN" sz="1650" dirty="0">
              <a:solidFill>
                <a:srgbClr val="E9E6D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Line 10"/>
          <p:cNvSpPr/>
          <p:nvPr/>
        </p:nvSpPr>
        <p:spPr>
          <a:xfrm>
            <a:off x="914400" y="4362450"/>
            <a:ext cx="2419350" cy="9525"/>
          </a:xfrm>
          <a:custGeom>
            <a:avLst/>
            <a:gdLst/>
            <a:ahLst/>
            <a:cxnLst/>
            <a:rect l="l" t="t" r="r" b="b"/>
            <a:pathLst>
              <a:path w="2419350" h="9525">
                <a:moveTo>
                  <a:pt x="0" y="0"/>
                </a:moveTo>
                <a:lnTo>
                  <a:pt x="2419350" y="0"/>
                </a:lnTo>
              </a:path>
            </a:pathLst>
          </a:custGeom>
          <a:noFill/>
          <a:ln w="9525">
            <a:solidFill>
              <a:schemeClr val="accent3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907542" y="4616768"/>
            <a:ext cx="19401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8A29E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45 ready / 41 disabled</a:t>
            </a:r>
            <a:endParaRPr lang="zh-CN" sz="1350" dirty="0">
              <a:solidFill>
                <a:srgbClr val="A8A29E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2" name="Rectangle 12"/>
          <p:cNvSpPr/>
          <p:nvPr/>
        </p:nvSpPr>
        <p:spPr>
          <a:xfrm>
            <a:off x="4038600" y="2457450"/>
            <a:ext cx="7543800" cy="2857500"/>
          </a:xfrm>
          <a:prstGeom prst="rect">
            <a:avLst/>
          </a:prstGeom>
          <a:solidFill>
            <a:schemeClr val="lt2"/>
          </a:solidFill>
          <a:ln w="9525">
            <a:solidFill>
              <a:schemeClr val="accent1"/>
            </a:solidFill>
          </a:ln>
        </p:spPr>
      </p:sp>
      <p:pic>
        <p:nvPicPr>
          <p:cNvPr id="13" name="Image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9167" y="2647950"/>
            <a:ext cx="4402667" cy="2476500"/>
          </a:xfrm>
          <a:prstGeom prst="rect">
            <a:avLst/>
          </a:prstGeom>
        </p:spPr>
      </p:pic>
      <p:sp>
        <p:nvSpPr>
          <p:cNvPr id="14" name="Rectangle 14"/>
          <p:cNvSpPr/>
          <p:nvPr/>
        </p:nvSpPr>
        <p:spPr>
          <a:xfrm>
            <a:off x="4229100" y="2647950"/>
            <a:ext cx="7162800" cy="2476500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01599" y="5735479"/>
            <a:ext cx="5376032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工程含义：目录只是“可见性”，调用回传才是“可用性”。</a:t>
            </a:r>
            <a:endParaRPr lang="zh-CN" sz="158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04647" y="6200299"/>
            <a:ext cx="45186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05 / 10</a:t>
            </a:r>
            <a:endParaRPr lang="zh-CN" sz="980" dirty="0">
              <a:solidFill>
                <a:schemeClr val="accent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3504" y="556260"/>
            <a:ext cx="20775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spc="1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05 / BUSINESS PROOF</a:t>
            </a:r>
            <a:endParaRPr lang="zh-CN" sz="1200" spc="150" dirty="0">
              <a:solidFill>
                <a:schemeClr val="accent3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95122" y="949642"/>
            <a:ext cx="6555132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校园事务助手完成“补全—确认—提交”</a:t>
            </a:r>
            <a:endParaRPr lang="zh-CN" sz="2850" b="1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01980" y="1476375"/>
            <a:ext cx="52654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业务样例证明：对话可以承载结构化信息收集与动作确认。</a:t>
            </a:r>
            <a:endParaRPr lang="zh-CN" sz="150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Line 5"/>
          <p:cNvSpPr/>
          <p:nvPr/>
        </p:nvSpPr>
        <p:spPr>
          <a:xfrm>
            <a:off x="609600" y="19431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chemeClr val="accent1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609600" y="2362200"/>
            <a:ext cx="5219700" cy="3105150"/>
          </a:xfrm>
          <a:prstGeom prst="rect">
            <a:avLst/>
          </a:prstGeom>
          <a:solidFill>
            <a:schemeClr val="lt2"/>
          </a:solidFill>
          <a:ln w="9525">
            <a:solidFill>
              <a:schemeClr val="accent1"/>
            </a:solidFill>
          </a:ln>
        </p:spPr>
      </p:sp>
      <p:pic>
        <p:nvPicPr>
          <p:cNvPr id="7" name="Imag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8702" y="2495550"/>
            <a:ext cx="4941495" cy="2781300"/>
          </a:xfrm>
          <a:prstGeom prst="rect">
            <a:avLst/>
          </a:prstGeom>
        </p:spPr>
      </p:pic>
      <p:sp>
        <p:nvSpPr>
          <p:cNvPr id="8" name="Rectangle 8"/>
          <p:cNvSpPr/>
          <p:nvPr/>
        </p:nvSpPr>
        <p:spPr>
          <a:xfrm>
            <a:off x="742950" y="2495550"/>
            <a:ext cx="4953000" cy="2781300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590802" y="5550218"/>
            <a:ext cx="325772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① 补全：识别缺失字段，追问时间与原因</a:t>
            </a:r>
            <a:endParaRPr lang="zh-CN" sz="135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Rectangle 10"/>
          <p:cNvSpPr/>
          <p:nvPr/>
        </p:nvSpPr>
        <p:spPr>
          <a:xfrm>
            <a:off x="6362700" y="2362200"/>
            <a:ext cx="5219700" cy="3105150"/>
          </a:xfrm>
          <a:prstGeom prst="rect">
            <a:avLst/>
          </a:prstGeom>
          <a:solidFill>
            <a:schemeClr val="lt2"/>
          </a:solidFill>
          <a:ln w="9525">
            <a:solidFill>
              <a:schemeClr val="accent1"/>
            </a:solidFill>
          </a:ln>
        </p:spPr>
      </p:sp>
      <p:pic>
        <p:nvPicPr>
          <p:cNvPr id="11" name="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2011" y="2495550"/>
            <a:ext cx="3561077" cy="2781300"/>
          </a:xfrm>
          <a:prstGeom prst="rect">
            <a:avLst/>
          </a:prstGeom>
        </p:spPr>
      </p:pic>
      <p:sp>
        <p:nvSpPr>
          <p:cNvPr id="12" name="Rectangle 12"/>
          <p:cNvSpPr/>
          <p:nvPr/>
        </p:nvSpPr>
        <p:spPr>
          <a:xfrm>
            <a:off x="6496050" y="2495550"/>
            <a:ext cx="4953000" cy="2781300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7434707" y="5549583"/>
            <a:ext cx="307598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② 确认：展示摘要，等待用户明确授权</a:t>
            </a:r>
            <a:endParaRPr lang="zh-CN" sz="135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4376547" y="6087428"/>
            <a:ext cx="343945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③ 提交：动作完成后返回编号、状态与时间</a:t>
            </a:r>
            <a:endParaRPr lang="zh-CN" sz="1350" dirty="0">
              <a:solidFill>
                <a:schemeClr val="accent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663047" y="6124099"/>
            <a:ext cx="45186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06 / 10</a:t>
            </a:r>
            <a:endParaRPr lang="zh-CN" sz="980" dirty="0">
              <a:solidFill>
                <a:schemeClr val="accent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3504" y="556260"/>
            <a:ext cx="26450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spc="1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06 / PERMISSION BOUNDARY</a:t>
            </a:r>
            <a:endParaRPr lang="zh-CN" sz="1200" spc="150" dirty="0">
              <a:solidFill>
                <a:schemeClr val="accent3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95122" y="949642"/>
            <a:ext cx="5266011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测试权限必须迁移为工程权限</a:t>
            </a:r>
            <a:endParaRPr lang="zh-CN" sz="2850" b="1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01980" y="1476375"/>
            <a:ext cx="530580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“能调用”不等于“可交付”，关键是权限、证据与幂等边界。</a:t>
            </a:r>
            <a:endParaRPr lang="zh-CN" sz="150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Line 5"/>
          <p:cNvSpPr/>
          <p:nvPr/>
        </p:nvSpPr>
        <p:spPr>
          <a:xfrm>
            <a:off x="609600" y="19431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chemeClr val="accent1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609600" y="2476500"/>
            <a:ext cx="5105400" cy="2686050"/>
          </a:xfrm>
          <a:prstGeom prst="rect">
            <a:avLst/>
          </a:prstGeom>
          <a:solidFill>
            <a:schemeClr val="lt2"/>
          </a:solidFill>
          <a:ln w="9525">
            <a:solidFill>
              <a:schemeClr val="accent3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07542" y="2807018"/>
            <a:ext cx="13131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测试态 / 已验证</a:t>
            </a:r>
            <a:endParaRPr lang="zh-CN" sz="1350" dirty="0">
              <a:solidFill>
                <a:schemeClr val="accent3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03732" y="3297555"/>
            <a:ext cx="209919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一次调用能完成</a:t>
            </a:r>
            <a:endParaRPr lang="zh-CN" sz="2100" b="1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Line 9"/>
          <p:cNvSpPr/>
          <p:nvPr/>
        </p:nvSpPr>
        <p:spPr>
          <a:xfrm>
            <a:off x="914400" y="3790950"/>
            <a:ext cx="4305300" cy="9525"/>
          </a:xfrm>
          <a:custGeom>
            <a:avLst/>
            <a:gdLst/>
            <a:ahLst/>
            <a:cxnLst/>
            <a:rect l="l" t="t" r="r" b="b"/>
            <a:pathLst>
              <a:path w="4305300" h="9525">
                <a:moveTo>
                  <a:pt x="0" y="0"/>
                </a:moveTo>
                <a:lnTo>
                  <a:pt x="4305300" y="0"/>
                </a:lnTo>
              </a:path>
            </a:pathLst>
          </a:custGeom>
          <a:noFill/>
          <a:ln w="9525">
            <a:solidFill>
              <a:schemeClr val="accent3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907161" y="4037171"/>
            <a:ext cx="27385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返回 status / output / run_id</a:t>
            </a:r>
            <a:endParaRPr lang="zh-CN" sz="142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07923" y="4453414"/>
            <a:ext cx="276997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依赖单一会话上下文，边界尚未固化</a:t>
            </a:r>
            <a:endParaRPr lang="zh-CN" sz="1280" dirty="0">
              <a:solidFill>
                <a:schemeClr val="accent3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Rectangle 12"/>
          <p:cNvSpPr/>
          <p:nvPr/>
        </p:nvSpPr>
        <p:spPr>
          <a:xfrm>
            <a:off x="6477000" y="2476500"/>
            <a:ext cx="5105400" cy="26860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6774942" y="2807018"/>
            <a:ext cx="13131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工程态 / 下一步</a:t>
            </a:r>
            <a:endParaRPr lang="zh-CN" sz="1350" dirty="0">
              <a:solidFill>
                <a:schemeClr val="accent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771132" y="3297555"/>
            <a:ext cx="2396033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7F5F0"/>
                </a:solidFill>
                <a:latin typeface="+mn-lt"/>
                <a:ea typeface="+mn-ea"/>
                <a:cs typeface="+mn-cs"/>
              </a:rPr>
              <a:t>每次调用都可审计</a:t>
            </a:r>
            <a:endParaRPr lang="zh-CN" sz="2100" b="1" dirty="0">
              <a:solidFill>
                <a:srgbClr val="F7F5F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Line 15"/>
          <p:cNvSpPr/>
          <p:nvPr/>
        </p:nvSpPr>
        <p:spPr>
          <a:xfrm>
            <a:off x="6781800" y="3790950"/>
            <a:ext cx="4305300" cy="9525"/>
          </a:xfrm>
          <a:custGeom>
            <a:avLst/>
            <a:gdLst/>
            <a:ahLst/>
            <a:cxnLst/>
            <a:rect l="l" t="t" r="r" b="b"/>
            <a:pathLst>
              <a:path w="4305300" h="9525">
                <a:moveTo>
                  <a:pt x="0" y="0"/>
                </a:moveTo>
                <a:lnTo>
                  <a:pt x="4305300" y="0"/>
                </a:lnTo>
              </a:path>
            </a:pathLst>
          </a:custGeom>
          <a:noFill/>
          <a:ln w="9525">
            <a:solidFill>
              <a:schemeClr val="accent3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6774561" y="4037171"/>
            <a:ext cx="217459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E9E6DF"/>
                </a:solidFill>
                <a:latin typeface="+mn-lt"/>
                <a:ea typeface="+mn-ea"/>
                <a:cs typeface="+mn-cs"/>
              </a:rPr>
              <a:t>权限声明 · 超时 · 幂等键</a:t>
            </a:r>
            <a:endParaRPr lang="zh-CN" sz="1420" dirty="0">
              <a:solidFill>
                <a:srgbClr val="E9E6D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775323" y="4453414"/>
            <a:ext cx="294228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A8A29E"/>
                </a:solidFill>
                <a:latin typeface="+mn-lt"/>
                <a:ea typeface="+mn-ea"/>
                <a:cs typeface="+mn-cs"/>
              </a:rPr>
              <a:t>结果可追踪，失败可重试，动作可回滚</a:t>
            </a:r>
            <a:endParaRPr lang="zh-CN" sz="1280" dirty="0">
              <a:solidFill>
                <a:srgbClr val="A8A29E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Line 18"/>
          <p:cNvSpPr/>
          <p:nvPr/>
        </p:nvSpPr>
        <p:spPr>
          <a:xfrm>
            <a:off x="5715000" y="3829050"/>
            <a:ext cx="762000" cy="9525"/>
          </a:xfrm>
          <a:custGeom>
            <a:avLst/>
            <a:gdLst/>
            <a:ahLst/>
            <a:cxnLst/>
            <a:rect l="l" t="t" r="r" b="b"/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/>
          <a:ln w="28575">
            <a:solidFill>
              <a:schemeClr val="accent2"/>
            </a:solidFill>
          </a:ln>
        </p:spPr>
      </p:sp>
      <p:sp>
        <p:nvSpPr>
          <p:cNvPr id="19" name="Polygon 19"/>
          <p:cNvSpPr/>
          <p:nvPr/>
        </p:nvSpPr>
        <p:spPr>
          <a:xfrm>
            <a:off x="6362700" y="37338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0"/>
                </a:moveTo>
                <a:lnTo>
                  <a:pt x="190500" y="95250"/>
                </a:lnTo>
                <a:lnTo>
                  <a:pt x="0" y="1905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601599" y="5735479"/>
            <a:ext cx="1132675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迁移标准：</a:t>
            </a:r>
            <a:endParaRPr lang="zh-CN" sz="1580" b="1" dirty="0">
              <a:solidFill>
                <a:schemeClr val="accent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801749" y="5735479"/>
            <a:ext cx="3249036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从“结果存在”升级为“过程受控”。</a:t>
            </a:r>
            <a:endParaRPr lang="zh-CN" sz="158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604647" y="6200299"/>
            <a:ext cx="45186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07 / 10</a:t>
            </a:r>
            <a:endParaRPr lang="zh-CN" sz="980" dirty="0">
              <a:solidFill>
                <a:schemeClr val="accent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3504" y="556260"/>
            <a:ext cx="337047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spc="1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07 / MULTI-AGENT COLLABORATION</a:t>
            </a:r>
            <a:endParaRPr lang="zh-CN" sz="1200" spc="150" dirty="0">
              <a:solidFill>
                <a:schemeClr val="accent3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95122" y="949642"/>
            <a:ext cx="7602868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同一 Gateway 内，主代理可以编排子代理</a:t>
            </a:r>
            <a:endParaRPr lang="zh-CN" sz="2850" b="1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01980" y="1476375"/>
            <a:ext cx="561879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协作验证聚焦“任务下发—子代理执行—事件回传—主代理汇总”。</a:t>
            </a:r>
            <a:endParaRPr lang="zh-CN" sz="150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Line 5"/>
          <p:cNvSpPr/>
          <p:nvPr/>
        </p:nvSpPr>
        <p:spPr>
          <a:xfrm>
            <a:off x="609600" y="19431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chemeClr val="accent1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609600" y="2419350"/>
            <a:ext cx="4762500" cy="2857500"/>
          </a:xfrm>
          <a:prstGeom prst="rect">
            <a:avLst/>
          </a:prstGeom>
          <a:solidFill>
            <a:schemeClr val="lt2"/>
          </a:solidFill>
          <a:ln w="9525">
            <a:solidFill>
              <a:schemeClr val="accent1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07542" y="27117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协作链路</a:t>
            </a:r>
            <a:endParaRPr lang="zh-CN" sz="1350" dirty="0">
              <a:solidFill>
                <a:schemeClr val="accent3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Rectangle 8"/>
          <p:cNvSpPr/>
          <p:nvPr/>
        </p:nvSpPr>
        <p:spPr>
          <a:xfrm>
            <a:off x="914400" y="3276600"/>
            <a:ext cx="1562100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8" name="Group 18"/>
          <p:cNvGrpSpPr/>
          <p:nvPr/>
        </p:nvGrpSpPr>
        <p:grpSpPr>
          <a:xfrm>
            <a:off x="1126331" y="3452812"/>
            <a:ext cx="166688" cy="226219"/>
            <a:chOff x="1126331" y="3452812"/>
            <a:chExt cx="166688" cy="226219"/>
          </a:xfrm>
        </p:grpSpPr>
        <p:sp>
          <p:nvSpPr>
            <p:cNvPr id="9" name="Freeform 9"/>
            <p:cNvSpPr/>
            <p:nvPr/>
          </p:nvSpPr>
          <p:spPr>
            <a:xfrm>
              <a:off x="1138238" y="3476625"/>
              <a:ext cx="142875" cy="95250"/>
            </a:xfrm>
            <a:custGeom>
              <a:avLst/>
              <a:gdLst/>
              <a:ahLst/>
              <a:cxnLst/>
              <a:rect l="l" t="t" r="r" b="b"/>
              <a:pathLst>
                <a:path w="142875" h="95250">
                  <a:moveTo>
                    <a:pt x="0" y="23812"/>
                  </a:moveTo>
                  <a:cubicBezTo>
                    <a:pt x="0" y="10661"/>
                    <a:pt x="10661" y="0"/>
                    <a:pt x="23812" y="0"/>
                  </a:cubicBezTo>
                  <a:lnTo>
                    <a:pt x="119062" y="0"/>
                  </a:lnTo>
                  <a:cubicBezTo>
                    <a:pt x="132214" y="0"/>
                    <a:pt x="142875" y="10661"/>
                    <a:pt x="142875" y="23812"/>
                  </a:cubicBezTo>
                  <a:lnTo>
                    <a:pt x="142875" y="71438"/>
                  </a:lnTo>
                  <a:cubicBezTo>
                    <a:pt x="142875" y="84589"/>
                    <a:pt x="132214" y="95250"/>
                    <a:pt x="119062" y="95250"/>
                  </a:cubicBezTo>
                  <a:lnTo>
                    <a:pt x="23812" y="95250"/>
                  </a:lnTo>
                  <a:cubicBezTo>
                    <a:pt x="10661" y="95250"/>
                    <a:pt x="0" y="84589"/>
                    <a:pt x="0" y="71438"/>
                  </a:cubicBezTo>
                  <a:lnTo>
                    <a:pt x="0" y="23812"/>
                  </a:lnTo>
                </a:path>
              </a:pathLst>
            </a:custGeom>
            <a:noFill/>
            <a:ln w="23812">
              <a:solidFill>
                <a:srgbClr val="F7F5F0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209675" y="3452812"/>
              <a:ext cx="9525" cy="23812"/>
            </a:xfrm>
            <a:custGeom>
              <a:avLst/>
              <a:gdLst/>
              <a:ahLst/>
              <a:cxnLst/>
              <a:rect l="l" t="t" r="r" b="b"/>
              <a:pathLst>
                <a:path w="9525" h="23812">
                  <a:moveTo>
                    <a:pt x="0" y="0"/>
                  </a:moveTo>
                  <a:lnTo>
                    <a:pt x="0" y="23812"/>
                  </a:lnTo>
                </a:path>
              </a:pathLst>
            </a:custGeom>
            <a:noFill/>
            <a:ln w="23812">
              <a:solidFill>
                <a:srgbClr val="F7F5F0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173956" y="3571875"/>
              <a:ext cx="9525" cy="107156"/>
            </a:xfrm>
            <a:custGeom>
              <a:avLst/>
              <a:gdLst/>
              <a:ahLst/>
              <a:cxnLst/>
              <a:rect l="l" t="t" r="r" b="b"/>
              <a:pathLst>
                <a:path w="9525" h="107156">
                  <a:moveTo>
                    <a:pt x="0" y="0"/>
                  </a:moveTo>
                  <a:lnTo>
                    <a:pt x="0" y="107156"/>
                  </a:lnTo>
                </a:path>
              </a:pathLst>
            </a:custGeom>
            <a:noFill/>
            <a:ln w="23812">
              <a:solidFill>
                <a:srgbClr val="F7F5F0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245394" y="3571875"/>
              <a:ext cx="9525" cy="107156"/>
            </a:xfrm>
            <a:custGeom>
              <a:avLst/>
              <a:gdLst/>
              <a:ahLst/>
              <a:cxnLst/>
              <a:rect l="l" t="t" r="r" b="b"/>
              <a:pathLst>
                <a:path w="9525" h="107156">
                  <a:moveTo>
                    <a:pt x="0" y="0"/>
                  </a:moveTo>
                  <a:lnTo>
                    <a:pt x="0" y="107156"/>
                  </a:lnTo>
                </a:path>
              </a:pathLst>
            </a:custGeom>
            <a:noFill/>
            <a:ln w="23812">
              <a:solidFill>
                <a:srgbClr val="F7F5F0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126331" y="3595688"/>
              <a:ext cx="47625" cy="23812"/>
            </a:xfrm>
            <a:custGeom>
              <a:avLst/>
              <a:gdLst/>
              <a:ahLst/>
              <a:cxnLst/>
              <a:rect l="l" t="t" r="r" b="b"/>
              <a:pathLst>
                <a:path w="47625" h="23812">
                  <a:moveTo>
                    <a:pt x="0" y="23812"/>
                  </a:moveTo>
                  <a:lnTo>
                    <a:pt x="47625" y="0"/>
                  </a:lnTo>
                </a:path>
              </a:pathLst>
            </a:custGeom>
            <a:noFill/>
            <a:ln w="23812">
              <a:solidFill>
                <a:srgbClr val="F7F5F0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245394" y="3595688"/>
              <a:ext cx="47625" cy="23812"/>
            </a:xfrm>
            <a:custGeom>
              <a:avLst/>
              <a:gdLst/>
              <a:ahLst/>
              <a:cxnLst/>
              <a:rect l="l" t="t" r="r" b="b"/>
              <a:pathLst>
                <a:path w="47625" h="23812">
                  <a:moveTo>
                    <a:pt x="0" y="0"/>
                  </a:moveTo>
                  <a:lnTo>
                    <a:pt x="47625" y="23812"/>
                  </a:lnTo>
                </a:path>
              </a:pathLst>
            </a:custGeom>
            <a:noFill/>
            <a:ln w="23812">
              <a:solidFill>
                <a:srgbClr val="F7F5F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173956" y="3643312"/>
              <a:ext cx="71438" cy="9525"/>
            </a:xfrm>
            <a:custGeom>
              <a:avLst/>
              <a:gdLst/>
              <a:ahLst/>
              <a:cxnLst/>
              <a:rect l="l" t="t" r="r" b="b"/>
              <a:pathLst>
                <a:path w="71438" h="9525">
                  <a:moveTo>
                    <a:pt x="0" y="0"/>
                  </a:moveTo>
                  <a:lnTo>
                    <a:pt x="71438" y="0"/>
                  </a:lnTo>
                </a:path>
              </a:pathLst>
            </a:custGeom>
            <a:noFill/>
            <a:ln w="23812">
              <a:solidFill>
                <a:srgbClr val="F7F5F0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185862" y="3524250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119"/>
                  </a:lnTo>
                </a:path>
              </a:pathLst>
            </a:custGeom>
            <a:noFill/>
            <a:ln w="23812">
              <a:solidFill>
                <a:srgbClr val="F7F5F0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1233488" y="3524250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119"/>
                  </a:lnTo>
                </a:path>
              </a:pathLst>
            </a:custGeom>
            <a:noFill/>
            <a:ln w="23812">
              <a:solidFill>
                <a:srgbClr val="F7F5F0"/>
              </a:solidFill>
            </a:ln>
          </p:spPr>
        </p:sp>
      </p:grpSp>
      <p:sp>
        <p:nvSpPr>
          <p:cNvPr id="19" name="TextBox 19"/>
          <p:cNvSpPr txBox="1"/>
          <p:nvPr/>
        </p:nvSpPr>
        <p:spPr>
          <a:xfrm>
            <a:off x="1459992" y="3502342"/>
            <a:ext cx="40445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7F5F0"/>
                </a:solidFill>
                <a:latin typeface="+mn-lt"/>
                <a:ea typeface="+mn-ea"/>
                <a:cs typeface="+mn-cs"/>
              </a:rPr>
              <a:t>main</a:t>
            </a:r>
            <a:endParaRPr lang="zh-CN" sz="1350" dirty="0">
              <a:solidFill>
                <a:srgbClr val="F7F5F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Rectangle 20"/>
          <p:cNvSpPr/>
          <p:nvPr/>
        </p:nvSpPr>
        <p:spPr>
          <a:xfrm>
            <a:off x="3467100" y="3276600"/>
            <a:ext cx="1562100" cy="609600"/>
          </a:xfrm>
          <a:prstGeom prst="rect">
            <a:avLst/>
          </a:prstGeom>
          <a:solidFill>
            <a:schemeClr val="lt1"/>
          </a:solidFill>
          <a:ln w="9525">
            <a:solidFill>
              <a:schemeClr val="accent1"/>
            </a:solidFill>
          </a:ln>
        </p:spPr>
      </p:sp>
      <p:grpSp>
        <p:nvGrpSpPr>
          <p:cNvPr id="27" name="Group 27"/>
          <p:cNvGrpSpPr/>
          <p:nvPr/>
        </p:nvGrpSpPr>
        <p:grpSpPr>
          <a:xfrm>
            <a:off x="3679031" y="3476625"/>
            <a:ext cx="178595" cy="190500"/>
            <a:chOff x="3679031" y="3476625"/>
            <a:chExt cx="178595" cy="190500"/>
          </a:xfrm>
        </p:grpSpPr>
        <p:sp>
          <p:nvSpPr>
            <p:cNvPr id="21" name="Freeform 21"/>
            <p:cNvSpPr/>
            <p:nvPr/>
          </p:nvSpPr>
          <p:spPr>
            <a:xfrm>
              <a:off x="3679031" y="3619500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0" y="23812"/>
                  </a:moveTo>
                  <a:cubicBezTo>
                    <a:pt x="0" y="36964"/>
                    <a:pt x="10661" y="47625"/>
                    <a:pt x="23812" y="47625"/>
                  </a:cubicBezTo>
                  <a:cubicBezTo>
                    <a:pt x="36964" y="47625"/>
                    <a:pt x="47625" y="36964"/>
                    <a:pt x="47625" y="23812"/>
                  </a:cubicBezTo>
                  <a:cubicBezTo>
                    <a:pt x="47625" y="10661"/>
                    <a:pt x="36964" y="0"/>
                    <a:pt x="23812" y="0"/>
                  </a:cubicBezTo>
                  <a:cubicBezTo>
                    <a:pt x="10661" y="0"/>
                    <a:pt x="0" y="10661"/>
                    <a:pt x="0" y="23812"/>
                  </a:cubicBezTo>
                </a:path>
              </a:pathLst>
            </a:custGeom>
            <a:noFill/>
            <a:ln w="23812">
              <a:solidFill>
                <a:schemeClr val="accent1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3679031" y="3476625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0" y="23812"/>
                  </a:moveTo>
                  <a:cubicBezTo>
                    <a:pt x="0" y="36964"/>
                    <a:pt x="10661" y="47625"/>
                    <a:pt x="23812" y="47625"/>
                  </a:cubicBezTo>
                  <a:cubicBezTo>
                    <a:pt x="36964" y="47625"/>
                    <a:pt x="47625" y="36964"/>
                    <a:pt x="47625" y="23812"/>
                  </a:cubicBezTo>
                  <a:cubicBezTo>
                    <a:pt x="47625" y="10661"/>
                    <a:pt x="36964" y="0"/>
                    <a:pt x="23812" y="0"/>
                  </a:cubicBezTo>
                  <a:cubicBezTo>
                    <a:pt x="10661" y="0"/>
                    <a:pt x="0" y="10661"/>
                    <a:pt x="0" y="23812"/>
                  </a:cubicBezTo>
                </a:path>
              </a:pathLst>
            </a:custGeom>
            <a:noFill/>
            <a:ln w="23812">
              <a:solidFill>
                <a:schemeClr val="accent1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3798094" y="3476625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0" y="23812"/>
                  </a:moveTo>
                  <a:cubicBezTo>
                    <a:pt x="0" y="36964"/>
                    <a:pt x="10661" y="47625"/>
                    <a:pt x="23812" y="47625"/>
                  </a:cubicBezTo>
                  <a:cubicBezTo>
                    <a:pt x="36964" y="47625"/>
                    <a:pt x="47625" y="36964"/>
                    <a:pt x="47625" y="23812"/>
                  </a:cubicBezTo>
                  <a:cubicBezTo>
                    <a:pt x="47625" y="10661"/>
                    <a:pt x="36964" y="0"/>
                    <a:pt x="23812" y="0"/>
                  </a:cubicBezTo>
                  <a:cubicBezTo>
                    <a:pt x="10661" y="0"/>
                    <a:pt x="0" y="10661"/>
                    <a:pt x="0" y="23812"/>
                  </a:cubicBezTo>
                </a:path>
              </a:pathLst>
            </a:custGeom>
            <a:noFill/>
            <a:ln w="23812">
              <a:solidFill>
                <a:schemeClr val="accent1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3702844" y="3524250"/>
              <a:ext cx="9525" cy="95250"/>
            </a:xfrm>
            <a:custGeom>
              <a:avLst/>
              <a:gdLst/>
              <a:ahLst/>
              <a:cxnLst/>
              <a:rect l="l" t="t" r="r" b="b"/>
              <a:pathLst>
                <a:path w="9525" h="95250">
                  <a:moveTo>
                    <a:pt x="0" y="0"/>
                  </a:moveTo>
                  <a:lnTo>
                    <a:pt x="0" y="95250"/>
                  </a:lnTo>
                </a:path>
              </a:pathLst>
            </a:custGeom>
            <a:noFill/>
            <a:ln w="23812">
              <a:solidFill>
                <a:schemeClr val="accent1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3726656" y="3559969"/>
              <a:ext cx="95250" cy="83344"/>
            </a:xfrm>
            <a:custGeom>
              <a:avLst/>
              <a:gdLst/>
              <a:ahLst/>
              <a:cxnLst/>
              <a:rect l="l" t="t" r="r" b="b"/>
              <a:pathLst>
                <a:path w="95250" h="83344">
                  <a:moveTo>
                    <a:pt x="0" y="83344"/>
                  </a:moveTo>
                  <a:lnTo>
                    <a:pt x="71438" y="83344"/>
                  </a:lnTo>
                  <a:cubicBezTo>
                    <a:pt x="84589" y="83344"/>
                    <a:pt x="95250" y="72683"/>
                    <a:pt x="95250" y="59531"/>
                  </a:cubicBezTo>
                  <a:lnTo>
                    <a:pt x="95250" y="0"/>
                  </a:lnTo>
                </a:path>
              </a:pathLst>
            </a:custGeom>
            <a:noFill/>
            <a:ln w="23812">
              <a:solidFill>
                <a:schemeClr val="accent1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3786188" y="3559969"/>
              <a:ext cx="71438" cy="35719"/>
            </a:xfrm>
            <a:custGeom>
              <a:avLst/>
              <a:gdLst/>
              <a:ahLst/>
              <a:cxnLst/>
              <a:rect l="l" t="t" r="r" b="b"/>
              <a:pathLst>
                <a:path w="71438" h="35719">
                  <a:moveTo>
                    <a:pt x="0" y="35719"/>
                  </a:moveTo>
                  <a:lnTo>
                    <a:pt x="35719" y="0"/>
                  </a:lnTo>
                  <a:lnTo>
                    <a:pt x="71438" y="35719"/>
                  </a:lnTo>
                </a:path>
              </a:pathLst>
            </a:custGeom>
            <a:noFill/>
            <a:ln w="23812">
              <a:solidFill>
                <a:schemeClr val="accent1"/>
              </a:solidFill>
            </a:ln>
          </p:spPr>
        </p:sp>
      </p:grpSp>
      <p:sp>
        <p:nvSpPr>
          <p:cNvPr id="28" name="TextBox 28"/>
          <p:cNvSpPr txBox="1"/>
          <p:nvPr/>
        </p:nvSpPr>
        <p:spPr>
          <a:xfrm>
            <a:off x="4012692" y="3502342"/>
            <a:ext cx="71340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test-8b</a:t>
            </a:r>
            <a:endParaRPr lang="zh-CN" sz="135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9" name="Line 29"/>
          <p:cNvSpPr/>
          <p:nvPr/>
        </p:nvSpPr>
        <p:spPr>
          <a:xfrm>
            <a:off x="2476500" y="3581400"/>
            <a:ext cx="807720" cy="76200"/>
          </a:xfrm>
          <a:custGeom>
            <a:avLst/>
            <a:gdLst/>
            <a:ahLst/>
            <a:cxnLst/>
            <a:rect l="l" t="t" r="r" b="b"/>
            <a:pathLst>
              <a:path w="990600" h="9525">
                <a:moveTo>
                  <a:pt x="0" y="0"/>
                </a:moveTo>
                <a:lnTo>
                  <a:pt x="990600" y="0"/>
                </a:lnTo>
              </a:path>
            </a:pathLst>
          </a:custGeom>
          <a:noFill/>
          <a:ln w="28575">
            <a:solidFill>
              <a:schemeClr val="accent2"/>
            </a:solidFill>
          </a:ln>
        </p:spPr>
      </p:sp>
      <p:sp>
        <p:nvSpPr>
          <p:cNvPr id="30" name="Polygon 30"/>
          <p:cNvSpPr/>
          <p:nvPr/>
        </p:nvSpPr>
        <p:spPr>
          <a:xfrm>
            <a:off x="3276600" y="348869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0"/>
                </a:moveTo>
                <a:lnTo>
                  <a:pt x="190500" y="95250"/>
                </a:lnTo>
                <a:lnTo>
                  <a:pt x="0" y="1905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1" name="TextBox 31"/>
          <p:cNvSpPr txBox="1"/>
          <p:nvPr/>
        </p:nvSpPr>
        <p:spPr>
          <a:xfrm>
            <a:off x="907161" y="4265771"/>
            <a:ext cx="142906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1. 下发明确任务</a:t>
            </a:r>
            <a:endParaRPr lang="zh-CN" sz="142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907161" y="4608671"/>
            <a:ext cx="142906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2. 接收完成事件</a:t>
            </a:r>
            <a:endParaRPr lang="zh-CN" sz="142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907161" y="4951571"/>
            <a:ext cx="162022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3. 只在完成后汇总</a:t>
            </a:r>
            <a:endParaRPr lang="zh-CN" sz="142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4" name="Rectangle 34"/>
          <p:cNvSpPr/>
          <p:nvPr/>
        </p:nvSpPr>
        <p:spPr>
          <a:xfrm>
            <a:off x="5867400" y="2419350"/>
            <a:ext cx="5715000" cy="2857500"/>
          </a:xfrm>
          <a:prstGeom prst="rect">
            <a:avLst/>
          </a:prstGeom>
          <a:solidFill>
            <a:schemeClr val="lt2"/>
          </a:solidFill>
          <a:ln w="9525">
            <a:solidFill>
              <a:schemeClr val="accent1"/>
            </a:solidFill>
          </a:ln>
        </p:spPr>
      </p:sp>
      <p:pic>
        <p:nvPicPr>
          <p:cNvPr id="35" name="Image 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3567" y="2609850"/>
            <a:ext cx="4402667" cy="2476500"/>
          </a:xfrm>
          <a:prstGeom prst="rect">
            <a:avLst/>
          </a:prstGeom>
        </p:spPr>
      </p:pic>
      <p:sp>
        <p:nvSpPr>
          <p:cNvPr id="36" name="Rectangle 36"/>
          <p:cNvSpPr/>
          <p:nvPr/>
        </p:nvSpPr>
        <p:spPr>
          <a:xfrm>
            <a:off x="6057900" y="2609850"/>
            <a:ext cx="5334000" cy="2476500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601599" y="5735479"/>
            <a:ext cx="7247788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证据重点：子代理结果不是口头描述，而是带状态与运行标识的结构化回传。</a:t>
            </a:r>
            <a:endParaRPr lang="zh-CN" sz="158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604647" y="6200299"/>
            <a:ext cx="45186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08 / 10</a:t>
            </a:r>
            <a:endParaRPr lang="zh-CN" sz="980" dirty="0">
              <a:solidFill>
                <a:schemeClr val="accent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3504" y="556260"/>
            <a:ext cx="242316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spc="1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08 / HERMES DELEGATION</a:t>
            </a:r>
            <a:endParaRPr lang="zh-CN" sz="1200" spc="150" dirty="0">
              <a:solidFill>
                <a:schemeClr val="accent3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95122" y="949642"/>
            <a:ext cx="7195512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Hermes 通过 API Tool 与 SSH 受控联动</a:t>
            </a:r>
            <a:endParaRPr lang="zh-CN" sz="2850" b="1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01980" y="1476375"/>
            <a:ext cx="465963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权限检查、超时与幂等键被明确写进一次委托任务。</a:t>
            </a:r>
            <a:endParaRPr lang="zh-CN" sz="150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Line 5"/>
          <p:cNvSpPr/>
          <p:nvPr/>
        </p:nvSpPr>
        <p:spPr>
          <a:xfrm>
            <a:off x="609600" y="19431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chemeClr val="accent1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609600" y="2419350"/>
            <a:ext cx="5067300" cy="2857500"/>
          </a:xfrm>
          <a:prstGeom prst="rect">
            <a:avLst/>
          </a:prstGeom>
          <a:solidFill>
            <a:schemeClr val="lt2"/>
          </a:solidFill>
          <a:ln w="9525">
            <a:solidFill>
              <a:schemeClr val="accent1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07542" y="269271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受控委托结构</a:t>
            </a:r>
            <a:endParaRPr lang="zh-CN" sz="1350" dirty="0">
              <a:solidFill>
                <a:schemeClr val="accent3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Rectangle 8"/>
          <p:cNvSpPr/>
          <p:nvPr/>
        </p:nvSpPr>
        <p:spPr>
          <a:xfrm>
            <a:off x="914400" y="3219450"/>
            <a:ext cx="1333500" cy="552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193292" y="3416618"/>
            <a:ext cx="69851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7F5F0"/>
                </a:solidFill>
                <a:latin typeface="+mn-lt"/>
                <a:ea typeface="+mn-ea"/>
                <a:cs typeface="+mn-cs"/>
              </a:rPr>
              <a:t>API Tool</a:t>
            </a:r>
            <a:endParaRPr lang="zh-CN" sz="1350" dirty="0">
              <a:solidFill>
                <a:srgbClr val="F7F5F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Rectangle 10"/>
          <p:cNvSpPr/>
          <p:nvPr/>
        </p:nvSpPr>
        <p:spPr>
          <a:xfrm>
            <a:off x="2781300" y="3219450"/>
            <a:ext cx="1120775" cy="552450"/>
          </a:xfrm>
          <a:prstGeom prst="rect">
            <a:avLst/>
          </a:prstGeom>
          <a:solidFill>
            <a:schemeClr val="lt1"/>
          </a:solidFill>
          <a:ln w="9525">
            <a:solidFill>
              <a:schemeClr val="accent1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2949702" y="3264853"/>
            <a:ext cx="809625" cy="415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altLang="en-US" sz="135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通信层</a:t>
            </a:r>
            <a:br>
              <a:rPr lang="en-US" altLang="zh-CN" sz="135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</a:br>
            <a:r>
              <a:rPr lang="en-US" altLang="zh-CN" sz="135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SS</a:t>
            </a:r>
            <a:r>
              <a:rPr lang="zh-CN" sz="135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H</a:t>
            </a:r>
            <a:r>
              <a:rPr lang="en-US" altLang="zh-CN" sz="135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(</a:t>
            </a:r>
            <a:r>
              <a:rPr lang="zh-CN" sz="135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可选</a:t>
            </a:r>
            <a:r>
              <a:rPr lang="en-US" altLang="zh-CN" sz="135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)</a:t>
            </a:r>
            <a:endParaRPr lang="en-US" altLang="zh-CN" sz="135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Rectangle 12"/>
          <p:cNvSpPr/>
          <p:nvPr/>
        </p:nvSpPr>
        <p:spPr>
          <a:xfrm>
            <a:off x="4461510" y="3219450"/>
            <a:ext cx="1024890" cy="5524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4684522" y="3416618"/>
            <a:ext cx="600075" cy="2076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7F5F0"/>
                </a:solidFill>
                <a:latin typeface="+mn-lt"/>
                <a:ea typeface="+mn-ea"/>
                <a:cs typeface="+mn-cs"/>
              </a:rPr>
              <a:t>H</a:t>
            </a:r>
            <a:r>
              <a:rPr lang="en-US" altLang="zh-CN" sz="1350" dirty="0">
                <a:solidFill>
                  <a:srgbClr val="F7F5F0"/>
                </a:solidFill>
                <a:latin typeface="+mn-lt"/>
                <a:ea typeface="+mn-ea"/>
                <a:cs typeface="+mn-cs"/>
              </a:rPr>
              <a:t>ermes</a:t>
            </a:r>
            <a:endParaRPr lang="en-US" altLang="zh-CN" sz="1350" dirty="0">
              <a:solidFill>
                <a:srgbClr val="F7F5F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4" name="Line 14"/>
          <p:cNvSpPr/>
          <p:nvPr/>
        </p:nvSpPr>
        <p:spPr>
          <a:xfrm>
            <a:off x="2247900" y="3495675"/>
            <a:ext cx="414020" cy="76200"/>
          </a:xfrm>
          <a:custGeom>
            <a:avLst/>
            <a:gdLst/>
            <a:ahLst/>
            <a:cxnLst/>
            <a:rect l="l" t="t" r="r" b="b"/>
            <a:pathLst>
              <a:path w="533400" h="9525">
                <a:moveTo>
                  <a:pt x="0" y="0"/>
                </a:moveTo>
                <a:lnTo>
                  <a:pt x="533400" y="0"/>
                </a:lnTo>
              </a:path>
            </a:pathLst>
          </a:custGeom>
          <a:noFill/>
          <a:ln w="28575">
            <a:solidFill>
              <a:schemeClr val="accent2"/>
            </a:solidFill>
          </a:ln>
        </p:spPr>
      </p:sp>
      <p:sp>
        <p:nvSpPr>
          <p:cNvPr id="15" name="Polygon 15"/>
          <p:cNvSpPr/>
          <p:nvPr/>
        </p:nvSpPr>
        <p:spPr>
          <a:xfrm>
            <a:off x="2590800" y="34004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0"/>
                </a:moveTo>
                <a:lnTo>
                  <a:pt x="190500" y="95250"/>
                </a:lnTo>
                <a:lnTo>
                  <a:pt x="0" y="1905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6" name="Line 16"/>
          <p:cNvSpPr/>
          <p:nvPr/>
        </p:nvSpPr>
        <p:spPr>
          <a:xfrm>
            <a:off x="3898265" y="3505200"/>
            <a:ext cx="533400" cy="9525"/>
          </a:xfrm>
          <a:custGeom>
            <a:avLst/>
            <a:gdLst/>
            <a:ahLst/>
            <a:cxnLst/>
            <a:rect l="l" t="t" r="r" b="b"/>
            <a:pathLst>
              <a:path w="533400" h="9525">
                <a:moveTo>
                  <a:pt x="0" y="0"/>
                </a:moveTo>
                <a:lnTo>
                  <a:pt x="533400" y="0"/>
                </a:lnTo>
              </a:path>
            </a:pathLst>
          </a:custGeom>
          <a:noFill/>
          <a:ln w="28575">
            <a:solidFill>
              <a:schemeClr val="accent2"/>
            </a:solidFill>
          </a:ln>
        </p:spPr>
      </p:sp>
      <p:sp>
        <p:nvSpPr>
          <p:cNvPr id="17" name="Polygon 17"/>
          <p:cNvSpPr/>
          <p:nvPr/>
        </p:nvSpPr>
        <p:spPr>
          <a:xfrm>
            <a:off x="4274185" y="34099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0"/>
                </a:moveTo>
                <a:lnTo>
                  <a:pt x="190500" y="95250"/>
                </a:lnTo>
                <a:lnTo>
                  <a:pt x="0" y="1905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08050" y="4091305"/>
            <a:ext cx="2994660" cy="241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permission-check / timeout 90s</a:t>
            </a:r>
            <a:endParaRPr lang="zh-CN" sz="1280" dirty="0">
              <a:solidFill>
                <a:schemeClr val="dk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908050" y="4472305"/>
            <a:ext cx="2990850" cy="2120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idempotency_key / run_id</a:t>
            </a:r>
            <a:endParaRPr lang="zh-CN" sz="1280" dirty="0">
              <a:solidFill>
                <a:schemeClr val="dk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908304" y="4861560"/>
            <a:ext cx="34853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完成条件：只回报工具返回的 status 与 output</a:t>
            </a:r>
            <a:endParaRPr lang="zh-CN" sz="1200" dirty="0">
              <a:solidFill>
                <a:schemeClr val="accent3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1" name="Rectangle 21"/>
          <p:cNvSpPr/>
          <p:nvPr/>
        </p:nvSpPr>
        <p:spPr>
          <a:xfrm>
            <a:off x="6096000" y="2419350"/>
            <a:ext cx="5486400" cy="2857500"/>
          </a:xfrm>
          <a:prstGeom prst="rect">
            <a:avLst/>
          </a:prstGeom>
          <a:solidFill>
            <a:schemeClr val="lt2"/>
          </a:solidFill>
          <a:ln w="9525">
            <a:solidFill>
              <a:schemeClr val="accent1"/>
            </a:solidFill>
          </a:ln>
        </p:spPr>
      </p:sp>
      <p:pic>
        <p:nvPicPr>
          <p:cNvPr id="22" name="Image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37867" y="2609850"/>
            <a:ext cx="4402667" cy="2476500"/>
          </a:xfrm>
          <a:prstGeom prst="rect">
            <a:avLst/>
          </a:prstGeom>
        </p:spPr>
      </p:pic>
      <p:sp>
        <p:nvSpPr>
          <p:cNvPr id="23" name="Rectangle 23"/>
          <p:cNvSpPr/>
          <p:nvPr/>
        </p:nvSpPr>
        <p:spPr>
          <a:xfrm>
            <a:off x="6286500" y="2609850"/>
            <a:ext cx="5105400" cy="2476500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601599" y="5735479"/>
            <a:ext cx="6396990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协作的工程化标志：委托动作具备可验证的输入、输出与失败语义。</a:t>
            </a:r>
            <a:endParaRPr lang="zh-CN" sz="158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604647" y="6200299"/>
            <a:ext cx="45186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09 / 10</a:t>
            </a:r>
            <a:endParaRPr lang="zh-CN" sz="980" dirty="0">
              <a:solidFill>
                <a:schemeClr val="accent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609600"/>
            <a:ext cx="76200" cy="91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908304" y="746760"/>
            <a:ext cx="14758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spc="1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09 / NEXT STEP</a:t>
            </a:r>
            <a:endParaRPr lang="zh-CN" sz="1200" spc="150" dirty="0">
              <a:solidFill>
                <a:schemeClr val="accent3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898398" y="1107758"/>
            <a:ext cx="8046606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底座已验证，下一阶段聚焦受控业务接入</a:t>
            </a:r>
            <a:endParaRPr lang="zh-CN" sz="3150" b="1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906018" y="1688782"/>
            <a:ext cx="645833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把已经跑通的能力，转化为可维护、可审计、可复制的工程交付。</a:t>
            </a:r>
            <a:endParaRPr lang="zh-CN" sz="165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Line 6"/>
          <p:cNvSpPr/>
          <p:nvPr/>
        </p:nvSpPr>
        <p:spPr>
          <a:xfrm>
            <a:off x="914400" y="2190750"/>
            <a:ext cx="10363200" cy="9525"/>
          </a:xfrm>
          <a:custGeom>
            <a:avLst/>
            <a:gdLst/>
            <a:ahLst/>
            <a:cxnLst/>
            <a:rect l="l" t="t" r="r" b="b"/>
            <a:pathLst>
              <a:path w="10363200" h="9525">
                <a:moveTo>
                  <a:pt x="0" y="0"/>
                </a:moveTo>
                <a:lnTo>
                  <a:pt x="10363200" y="0"/>
                </a:lnTo>
              </a:path>
            </a:pathLst>
          </a:custGeom>
          <a:noFill/>
          <a:ln w="19050">
            <a:solidFill>
              <a:schemeClr val="accent1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914400" y="2724150"/>
            <a:ext cx="3048000" cy="2076450"/>
          </a:xfrm>
          <a:prstGeom prst="rect">
            <a:avLst/>
          </a:prstGeom>
          <a:solidFill>
            <a:schemeClr val="lt2"/>
          </a:solidFill>
          <a:ln w="9525">
            <a:solidFill>
              <a:schemeClr val="accent1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212342" y="2997518"/>
            <a:ext cx="5589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已完成</a:t>
            </a:r>
            <a:endParaRPr lang="zh-CN" sz="1350" dirty="0">
              <a:solidFill>
                <a:schemeClr val="accent3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207770" y="3452812"/>
            <a:ext cx="2249138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部署与能力验证</a:t>
            </a:r>
            <a:endParaRPr lang="zh-CN" sz="2250" b="1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212342" y="4007168"/>
            <a:ext cx="190679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混合环境 / Skill / 协作</a:t>
            </a:r>
            <a:endParaRPr lang="zh-CN" sz="135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Rectangle 11"/>
          <p:cNvSpPr/>
          <p:nvPr/>
        </p:nvSpPr>
        <p:spPr>
          <a:xfrm>
            <a:off x="4495800" y="2724150"/>
            <a:ext cx="3048000" cy="20764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4793742" y="2997518"/>
            <a:ext cx="514350" cy="2076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优化中</a:t>
            </a:r>
            <a:endParaRPr lang="zh-CN" sz="1350" dirty="0">
              <a:solidFill>
                <a:schemeClr val="accent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789170" y="3452812"/>
            <a:ext cx="2249138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7F5F0"/>
                </a:solidFill>
                <a:latin typeface="+mn-lt"/>
                <a:ea typeface="+mn-ea"/>
                <a:cs typeface="+mn-cs"/>
              </a:rPr>
              <a:t>权限与证据固化</a:t>
            </a:r>
            <a:endParaRPr lang="zh-CN" sz="2250" b="1" dirty="0">
              <a:solidFill>
                <a:srgbClr val="F7F5F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4793742" y="4007168"/>
            <a:ext cx="209460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9E6DF"/>
                </a:solidFill>
                <a:latin typeface="+mn-lt"/>
                <a:ea typeface="+mn-ea"/>
                <a:cs typeface="+mn-cs"/>
              </a:rPr>
              <a:t>超时 / 幂等 / 审计 / 回滚</a:t>
            </a:r>
            <a:endParaRPr lang="zh-CN" sz="1350" dirty="0">
              <a:solidFill>
                <a:srgbClr val="E9E6D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Rectangle 15"/>
          <p:cNvSpPr/>
          <p:nvPr/>
        </p:nvSpPr>
        <p:spPr>
          <a:xfrm>
            <a:off x="8077200" y="2724150"/>
            <a:ext cx="3048000" cy="2076450"/>
          </a:xfrm>
          <a:prstGeom prst="rect">
            <a:avLst/>
          </a:prstGeom>
          <a:solidFill>
            <a:schemeClr val="lt2"/>
          </a:solidFill>
          <a:ln w="9525">
            <a:solidFill>
              <a:schemeClr val="accent1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8375142" y="2997518"/>
            <a:ext cx="514350" cy="2076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下阶段</a:t>
            </a:r>
            <a:endParaRPr lang="zh-CN" sz="1350" dirty="0">
              <a:solidFill>
                <a:schemeClr val="accent3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370570" y="3452812"/>
            <a:ext cx="1931098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受控业务接入</a:t>
            </a:r>
            <a:endParaRPr lang="zh-CN" sz="2250" b="1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8375142" y="4007168"/>
            <a:ext cx="201282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从演示样例走向真实流程</a:t>
            </a:r>
            <a:endParaRPr lang="zh-CN" sz="135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Line 19"/>
          <p:cNvSpPr/>
          <p:nvPr/>
        </p:nvSpPr>
        <p:spPr>
          <a:xfrm>
            <a:off x="914400" y="5295900"/>
            <a:ext cx="10210800" cy="9525"/>
          </a:xfrm>
          <a:custGeom>
            <a:avLst/>
            <a:gdLst/>
            <a:ahLst/>
            <a:cxnLst/>
            <a:rect l="l" t="t" r="r" b="b"/>
            <a:pathLst>
              <a:path w="10210800" h="9525">
                <a:moveTo>
                  <a:pt x="0" y="0"/>
                </a:moveTo>
                <a:lnTo>
                  <a:pt x="10210800" y="0"/>
                </a:lnTo>
              </a:path>
            </a:pathLst>
          </a:custGeom>
          <a:noFill/>
          <a:ln w="9525">
            <a:solidFill>
              <a:schemeClr val="accent3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905256" y="55587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结论</a:t>
            </a:r>
            <a:endParaRPr lang="zh-CN" sz="1800" b="1" dirty="0">
              <a:solidFill>
                <a:schemeClr val="accent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705356" y="5558790"/>
            <a:ext cx="637079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OpenClaw 已具备可复制的部署底座和可验证的协作链路。</a:t>
            </a:r>
            <a:endParaRPr lang="zh-CN" sz="18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706880" y="5953125"/>
            <a:ext cx="369036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工程重点从“证明能跑”转向“证明可控”。</a:t>
            </a:r>
            <a:endParaRPr lang="zh-CN" sz="150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0663047" y="6371749"/>
            <a:ext cx="45186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10 / 10</a:t>
            </a:r>
            <a:endParaRPr lang="zh-CN" sz="980" dirty="0">
              <a:solidFill>
                <a:schemeClr val="accent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penclaw-engineering-validation">
  <a:themeElements>
    <a:clrScheme name="openclaw-engineering-validation">
      <a:dk1>
        <a:srgbClr val="3F3F46"/>
      </a:dk1>
      <a:lt1>
        <a:srgbClr val="E9E6DF"/>
      </a:lt1>
      <a:dk2>
        <a:srgbClr val="1F497D"/>
      </a:dk2>
      <a:lt2>
        <a:srgbClr val="F7F5F0"/>
      </a:lt2>
      <a:accent1>
        <a:srgbClr val="1A1A1A"/>
      </a:accent1>
      <a:accent2>
        <a:srgbClr val="E45A36"/>
      </a:accent2>
      <a:accent3>
        <a:srgbClr val="6B7280"/>
      </a:accent3>
      <a:accent4>
        <a:srgbClr val="1A1A1A"/>
      </a:accent4>
      <a:accent5>
        <a:srgbClr val="4BACC6"/>
      </a:accent5>
      <a:accent6>
        <a:srgbClr val="F79646"/>
      </a:accent6>
      <a:hlink>
        <a:srgbClr val="E45A36"/>
      </a:hlink>
      <a:folHlink>
        <a:srgbClr val="6B7280"/>
      </a:folHlink>
    </a:clrScheme>
    <a:fontScheme name="openclaw-engineering-validation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penclaw-engineering-valida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penclaw-engineering-validation">
  <a:themeElements>
    <a:clrScheme name="openclaw-engineering-validation">
      <a:dk1>
        <a:srgbClr val="3F3F46"/>
      </a:dk1>
      <a:lt1>
        <a:srgbClr val="E9E6DF"/>
      </a:lt1>
      <a:dk2>
        <a:srgbClr val="1F497D"/>
      </a:dk2>
      <a:lt2>
        <a:srgbClr val="F7F5F0"/>
      </a:lt2>
      <a:accent1>
        <a:srgbClr val="1A1A1A"/>
      </a:accent1>
      <a:accent2>
        <a:srgbClr val="E45A36"/>
      </a:accent2>
      <a:accent3>
        <a:srgbClr val="6B7280"/>
      </a:accent3>
      <a:accent4>
        <a:srgbClr val="1A1A1A"/>
      </a:accent4>
      <a:accent5>
        <a:srgbClr val="4BACC6"/>
      </a:accent5>
      <a:accent6>
        <a:srgbClr val="F79646"/>
      </a:accent6>
      <a:hlink>
        <a:srgbClr val="E45A36"/>
      </a:hlink>
      <a:folHlink>
        <a:srgbClr val="6B7280"/>
      </a:folHlink>
    </a:clrScheme>
    <a:fontScheme name="openclaw-engineering-validation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penclaw-engineering-valida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1969</Words>
  <Application>WPS 演示</Application>
  <PresentationFormat>On-screen Show (16:9)</PresentationFormat>
  <Paragraphs>268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Arial</vt:lpstr>
      <vt:lpstr>Consolas</vt:lpstr>
      <vt:lpstr>微软雅黑</vt:lpstr>
      <vt:lpstr>Arial Unicode MS</vt:lpstr>
      <vt:lpstr>openclaw-engineering-validation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WPS_1658912581</cp:lastModifiedBy>
  <cp:revision>3</cp:revision>
  <dcterms:created xsi:type="dcterms:W3CDTF">2026-08-11T02:47:00Z</dcterms:created>
  <dcterms:modified xsi:type="dcterms:W3CDTF">2026-08-11T08:27:54Z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60FC144DCA6C4FA0AC784A7FB0A9A27E_12</vt:lpwstr>
  </property>
</Properties>
</file>